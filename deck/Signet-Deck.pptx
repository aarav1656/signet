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89" r:id="rId4"/>
  </p:sldMasterIdLst>
  <p:notesMasterIdLst>
    <p:notesMasterId r:id="rId5"/>
  </p:notesMasterIdLst>
  <p:sldIdLst>
    <p:sldId id="262" r:id="rId12"/>
    <p:sldId id="263" r:id="rId13"/>
    <p:sldId id="264" r:id="rId14"/>
    <p:sldId id="265" r:id="rId15"/>
    <p:sldId id="266" r:id="rId16"/>
    <p:sldId id="267" r:id="rId17"/>
    <p:sldId id="268" r:id="rId18"/>
    <p:sldId id="269" r:id="rId19"/>
    <p:sldId id="270" r:id="rId20"/>
    <p:sldId id="271" r:id="rId21"/>
    <p:sldId id="272" r:id="rId22"/>
    <p:sldId id="273" r:id="rId23"/>
    <p:sldId id="260" r:id="rId10"/>
    <p:sldId id="274" r:id="rId2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576">
          <p15:clr>
            <a:srgbClr val="747775"/>
          </p15:clr>
        </p15:guide>
        <p15:guide id="3" orient="horz" pos="886">
          <p15:clr>
            <a:srgbClr val="747775"/>
          </p15:clr>
        </p15:guide>
        <p15:guide id="4" orient="horz" pos="1264">
          <p15:clr>
            <a:srgbClr val="747775"/>
          </p15:clr>
        </p15:guide>
        <p15:guide id="5" orient="horz" pos="1465">
          <p15:clr>
            <a:srgbClr val="747775"/>
          </p15:clr>
        </p15:guide>
        <p15:guide id="6" orient="horz" pos="596">
          <p15:clr>
            <a:srgbClr val="747775"/>
          </p15:clr>
        </p15:guide>
        <p15:guide id="7" orient="horz" pos="1918">
          <p15:clr>
            <a:srgbClr val="747775"/>
          </p15:clr>
        </p15:guide>
        <p15:guide id="8" orient="horz" pos="1421">
          <p15:clr>
            <a:srgbClr val="747775"/>
          </p15:clr>
        </p15:guide>
        <p15:guide id="9" orient="horz" pos="121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576" orient="horz"/>
        <p:guide pos="886" orient="horz"/>
        <p:guide pos="1264" orient="horz"/>
        <p:guide pos="1465" orient="horz"/>
        <p:guide pos="596" orient="horz"/>
        <p:guide pos="1918" orient="horz"/>
        <p:guide pos="1421" orient="horz"/>
        <p:guide pos="1214"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0"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fe051518a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efe051518a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Canvas 1 of 2, the official Product Canvas for Signet. Who it is for, what they do today, the wedge, why now, alternatives, why onchain, first users, and what ships this weekend. Every figure carries its source in the line under the boxes.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0:00 to 0:08. Signet puts AI trading agents on Robinhood Chain with a provable record and a private strategy. A record belongs to the code that made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0:08 to 0:26. Someone vetted 22 viral posts claiming a 200x AI trading bot. Zero gave a wallet you could check. One reply says it plainly: until an agent can prove its track record without human intervention, it is a cool demo.</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0:26 to 0:41. Robinhood has over 150,000 agentic accounts and about 30 million tool uses a day, and says it does not audit agents. Limits answer how much an agent can lose. Nothing answers which code is trading. Copy trading today pays for screenshots.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0:41 to 1:03. Three steps. The creator's agent runs in an Intel TDX enclave and makes its key inside. Every receipt names the exact code and the model that answered, checked on chain by Stylus verifiers in Rust. The follower's account stores the agent key only for a measurement the follower approved. Any other workload is refused.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1:03 to 1:33. Here is the proof on Robinhood Chain testnet. The agent bought TSLA with one USDG. Open the transaction, Logs tab: the event records the workload's measurement and the model hash. Now the refusal. A genuine Intel quote from a different workload was submitted. The hardware is real and the code is not the approved code, so the chain reverts with MeasurementNotApproved. In the app, the leaderboard lists each strategy by compose hash, with every boot's measurement.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1:33 to 1:51. Three ideas. The measured compose commits to the strategy's hash and the CVM boots only on a match, while the strategy text is sealed config. That is private strategy, public proof, and a CVM built that way is admitted on the live account. A Stylus verifier walks Intel's certificate chain for about 2.37 million gas. And it checks platform status, enclave identity and revocation lists.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1:51 to 2:03. The follower's account holds the money, so it carries the tests. 351 forge tests across 25 suites. A mutation run removes 123 guards one at a time and catches 122, the last is documented as equivalent. The agent key can never become owner.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2:03 to 2:15. The first five users are named. DeployFinance gave an AI one hundred thousand dollars for 70 days. Growi runs a vault near three million dollars of profit with a strategy it will not open. Arcana hosts 40 creators on Robinhood Chain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2:15 to 2:23. The model has two fees. Creators earn a performance fee on new profit above the follower's high-water mark. Followers pay a flat subscription for an admitted agent. Signet takes a share of each fee.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2:23 to 2:33. Arcana proves a record was not edited, but the platform holds keys and prompts. Hyperliquid proves the PnL, not the code. Robinhood gives limits. Knidos proves trades fit parameters. Phala proves a workload ran in a TEE. Signet proves the code behind every trade.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2:33 to 2:42. We start with people we can name. Arcana's board has 40 creators and 51 agents. We message them with the TSLA receipt attached. One sentence: your next record can be a measurement, not a screenshot.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2:42 to 3:00. The ask: an introduction to Robinhood Chain partnerships and five creators willing to run an agent in an enclave. Funding releases half upfront and half on milestones across thirty days. A record you can verify, a strategy you keep. Open the transaction on the explorer and check the trade yourself.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Canvas 2 of 2, the official GTM Canvas for Signet. Who buys and who uses, the first reachable audience, three channels, the one-sentence message, the proof we need first, the intro that helps, five named targets, and the ask.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7" name="Shape 7"/>
        <p:cNvGrpSpPr/>
        <p:nvPr/>
      </p:nvGrpSpPr>
      <p:grpSpPr>
        <a:xfrm>
          <a:off x="0" y="0"/>
          <a:ext cx="0" cy="0"/>
          <a:chOff x="0" y="0"/>
          <a:chExt cx="0" cy="0"/>
        </a:xfrm>
      </p:grpSpPr>
      <p:pic>
        <p:nvPicPr>
          <p:cNvPr id="8" name="Google Shape;8;p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 name="Google Shape;9;p2"/>
          <p:cNvSpPr txBox="1"/>
          <p:nvPr>
            <p:ph idx="1" type="subTitle"/>
          </p:nvPr>
        </p:nvSpPr>
        <p:spPr>
          <a:xfrm>
            <a:off x="228600" y="1738950"/>
            <a:ext cx="4402800" cy="2520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9pPr>
          </a:lstStyle>
          <a:p/>
        </p:txBody>
      </p:sp>
      <p:sp>
        <p:nvSpPr>
          <p:cNvPr id="10" name="Google Shape;10;p2"/>
          <p:cNvSpPr txBox="1"/>
          <p:nvPr>
            <p:ph type="title"/>
          </p:nvPr>
        </p:nvSpPr>
        <p:spPr>
          <a:xfrm>
            <a:off x="228600" y="228600"/>
            <a:ext cx="6658800" cy="1419000"/>
          </a:xfrm>
          <a:prstGeom prst="rect">
            <a:avLst/>
          </a:prstGeom>
          <a:noFill/>
          <a:ln>
            <a:noFill/>
          </a:ln>
        </p:spPr>
        <p:txBody>
          <a:bodyPr anchorCtr="0" anchor="ctr" bIns="0" lIns="0" spcFirstLastPara="1" rIns="0" wrap="square" tIns="0">
            <a:no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sp>
        <p:nvSpPr>
          <p:cNvPr id="11" name="Google Shape;11;p2"/>
          <p:cNvSpPr txBox="1"/>
          <p:nvPr>
            <p:ph idx="2" type="subTitle"/>
          </p:nvPr>
        </p:nvSpPr>
        <p:spPr>
          <a:xfrm>
            <a:off x="2970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2" name="Google Shape;12;p2"/>
          <p:cNvSpPr txBox="1"/>
          <p:nvPr>
            <p:ph idx="3" type="subTitle"/>
          </p:nvPr>
        </p:nvSpPr>
        <p:spPr>
          <a:xfrm>
            <a:off x="17863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 name="Google Shape;13;p2"/>
          <p:cNvSpPr txBox="1"/>
          <p:nvPr>
            <p:ph idx="4" type="subTitle"/>
          </p:nvPr>
        </p:nvSpPr>
        <p:spPr>
          <a:xfrm>
            <a:off x="228591" y="3454475"/>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4" name="Google Shape;14;p2"/>
          <p:cNvSpPr txBox="1"/>
          <p:nvPr>
            <p:ph idx="5" type="subTitle"/>
          </p:nvPr>
        </p:nvSpPr>
        <p:spPr>
          <a:xfrm>
            <a:off x="228591" y="3743050"/>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5" name="Google Shape;15;p2"/>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6" name="Google Shape;16;p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 name="Google Shape;17;p2"/>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guide id="2" pos="2882">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18" name="Shape 18"/>
        <p:cNvGrpSpPr/>
        <p:nvPr/>
      </p:nvGrpSpPr>
      <p:grpSpPr>
        <a:xfrm>
          <a:off x="0" y="0"/>
          <a:ext cx="0" cy="0"/>
          <a:chOff x="0" y="0"/>
          <a:chExt cx="0" cy="0"/>
        </a:xfrm>
      </p:grpSpPr>
      <p:pic>
        <p:nvPicPr>
          <p:cNvPr id="19" name="Google Shape;19;p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0" name="Google Shape;20;p3"/>
          <p:cNvSpPr txBox="1"/>
          <p:nvPr>
            <p:ph type="title"/>
          </p:nvPr>
        </p:nvSpPr>
        <p:spPr>
          <a:xfrm>
            <a:off x="228600" y="395043"/>
            <a:ext cx="6480300" cy="587700"/>
          </a:xfrm>
          <a:prstGeom prst="rect">
            <a:avLst/>
          </a:prstGeom>
          <a:noFill/>
          <a:ln>
            <a:noFill/>
          </a:ln>
        </p:spPr>
        <p:txBody>
          <a:bodyPr anchorCtr="0" anchor="ctr" bIns="91425" lIns="0" spcFirstLastPara="1" rIns="91425" wrap="square" tIns="0">
            <a:spAutoFit/>
          </a:bodyPr>
          <a:lstStyle>
            <a:lvl1pPr lvl="0">
              <a:lnSpc>
                <a:spcPct val="90000"/>
              </a:lnSpc>
              <a:spcBef>
                <a:spcPts val="0"/>
              </a:spcBef>
              <a:spcAft>
                <a:spcPts val="0"/>
              </a:spcAft>
              <a:buNone/>
              <a:defRPr sz="3400">
                <a:solidFill>
                  <a:srgbClr val="FFFFFF"/>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9pPr>
          </a:lstStyle>
          <a:p/>
        </p:txBody>
      </p:sp>
      <p:sp>
        <p:nvSpPr>
          <p:cNvPr id="21" name="Google Shape;21;p3"/>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1pPr>
            <a:lvl2pPr indent="-317500" lvl="1" marL="914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2pPr>
            <a:lvl3pPr indent="-317500" lvl="2" marL="1371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3pPr>
            <a:lvl4pPr indent="-317500" lvl="3" marL="1828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4pPr>
            <a:lvl5pPr indent="-317500" lvl="4" marL="22860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5pPr>
            <a:lvl6pPr indent="-317500" lvl="5" marL="2743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6pPr>
            <a:lvl7pPr indent="-317500" lvl="6" marL="3200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7pPr>
            <a:lvl8pPr indent="-317500" lvl="7" marL="3657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8pPr>
            <a:lvl9pPr indent="-317500" lvl="8" marL="4114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9pPr>
          </a:lstStyle>
          <a:p/>
        </p:txBody>
      </p:sp>
      <p:sp>
        <p:nvSpPr>
          <p:cNvPr id="22" name="Google Shape;22;p3"/>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 name="Google Shape;23;p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4" name="Google Shape;24;p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25" name="Shape 25"/>
        <p:cNvGrpSpPr/>
        <p:nvPr/>
      </p:nvGrpSpPr>
      <p:grpSpPr>
        <a:xfrm>
          <a:off x="0" y="0"/>
          <a:ext cx="0" cy="0"/>
          <a:chOff x="0" y="0"/>
          <a:chExt cx="0" cy="0"/>
        </a:xfrm>
      </p:grpSpPr>
      <p:pic>
        <p:nvPicPr>
          <p:cNvPr id="26" name="Google Shape;26;p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 name="Google Shape;27;p4"/>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 name="Google Shape;28;p4"/>
          <p:cNvSpPr txBox="1"/>
          <p:nvPr>
            <p:ph type="title"/>
          </p:nvPr>
        </p:nvSpPr>
        <p:spPr>
          <a:xfrm>
            <a:off x="228600" y="613525"/>
            <a:ext cx="7223400" cy="4221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9pPr>
          </a:lstStyle>
          <a:p/>
        </p:txBody>
      </p:sp>
      <p:sp>
        <p:nvSpPr>
          <p:cNvPr id="29" name="Google Shape;29;p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4"/>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 name="Google Shape;31;p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 name="Google Shape;32;p4"/>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33" name="Shape 33"/>
        <p:cNvGrpSpPr/>
        <p:nvPr/>
      </p:nvGrpSpPr>
      <p:grpSpPr>
        <a:xfrm>
          <a:off x="0" y="0"/>
          <a:ext cx="0" cy="0"/>
          <a:chOff x="0" y="0"/>
          <a:chExt cx="0" cy="0"/>
        </a:xfrm>
      </p:grpSpPr>
      <p:pic>
        <p:nvPicPr>
          <p:cNvPr id="34" name="Google Shape;34;p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 name="Google Shape;35;p5"/>
          <p:cNvSpPr/>
          <p:nvPr>
            <p:ph idx="2" type="pic"/>
          </p:nvPr>
        </p:nvSpPr>
        <p:spPr>
          <a:xfrm>
            <a:off x="246150" y="237650"/>
            <a:ext cx="4196400" cy="4438200"/>
          </a:xfrm>
          <a:prstGeom prst="rect">
            <a:avLst/>
          </a:prstGeom>
          <a:noFill/>
          <a:ln>
            <a:noFill/>
          </a:ln>
        </p:spPr>
      </p:sp>
      <p:sp>
        <p:nvSpPr>
          <p:cNvPr id="36" name="Google Shape;36;p5"/>
          <p:cNvSpPr txBox="1"/>
          <p:nvPr>
            <p:ph type="title"/>
          </p:nvPr>
        </p:nvSpPr>
        <p:spPr>
          <a:xfrm>
            <a:off x="4591800" y="304700"/>
            <a:ext cx="3861900" cy="19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7" name="Google Shape;37;p5"/>
          <p:cNvSpPr txBox="1"/>
          <p:nvPr>
            <p:ph idx="3" type="title"/>
          </p:nvPr>
        </p:nvSpPr>
        <p:spPr>
          <a:xfrm>
            <a:off x="4591800" y="738425"/>
            <a:ext cx="4290000" cy="12195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800"/>
              <a:buFont typeface="Urbanist"/>
              <a:buNone/>
              <a:defRPr sz="34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8" name="Google Shape;38;p5"/>
          <p:cNvSpPr txBox="1"/>
          <p:nvPr>
            <p:ph idx="1" type="body"/>
          </p:nvPr>
        </p:nvSpPr>
        <p:spPr>
          <a:xfrm>
            <a:off x="4618950" y="1957925"/>
            <a:ext cx="4290000" cy="2193000"/>
          </a:xfrm>
          <a:prstGeom prst="rect">
            <a:avLst/>
          </a:prstGeom>
          <a:noFill/>
          <a:ln>
            <a:noFill/>
          </a:ln>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9pPr>
          </a:lstStyle>
          <a:p/>
        </p:txBody>
      </p:sp>
      <p:cxnSp>
        <p:nvCxnSpPr>
          <p:cNvPr id="39" name="Google Shape;39;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40" name="Google Shape;40;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41" name="Google Shape;41;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sp>
        <p:nvSpPr>
          <p:cNvPr id="42" name="Google Shape;42;p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 name="Google Shape;43;p5"/>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 name="Google Shape;44;p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45" name="Google Shape;45;p5"/>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46" name="Shape 46"/>
        <p:cNvGrpSpPr/>
        <p:nvPr/>
      </p:nvGrpSpPr>
      <p:grpSpPr>
        <a:xfrm>
          <a:off x="0" y="0"/>
          <a:ext cx="0" cy="0"/>
          <a:chOff x="0" y="0"/>
          <a:chExt cx="0" cy="0"/>
        </a:xfrm>
      </p:grpSpPr>
      <p:pic>
        <p:nvPicPr>
          <p:cNvPr id="47" name="Google Shape;47;p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8" name="Google Shape;48;p6"/>
          <p:cNvSpPr txBox="1"/>
          <p:nvPr>
            <p:ph type="title"/>
          </p:nvPr>
        </p:nvSpPr>
        <p:spPr>
          <a:xfrm>
            <a:off x="228600" y="613525"/>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rgbClr val="D4FF00"/>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9pPr>
          </a:lstStyle>
          <a:p/>
        </p:txBody>
      </p:sp>
      <p:sp>
        <p:nvSpPr>
          <p:cNvPr id="49" name="Google Shape;49;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0" name="Google Shape;50;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1" name="Google Shape;51;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52" name="Google Shape;52;p6"/>
          <p:cNvSpPr txBox="1"/>
          <p:nvPr>
            <p:ph idx="1" type="body"/>
          </p:nvPr>
        </p:nvSpPr>
        <p:spPr>
          <a:xfrm>
            <a:off x="233850" y="1726850"/>
            <a:ext cx="3740100" cy="27138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1pPr>
            <a:lvl2pPr indent="-292100" lvl="1" marL="914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2pPr>
            <a:lvl3pPr indent="-292100" lvl="2" marL="1371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3pPr>
            <a:lvl4pPr indent="-292100" lvl="3" marL="1828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4pPr>
            <a:lvl5pPr indent="-292100" lvl="4" marL="22860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5pPr>
            <a:lvl6pPr indent="-292100" lvl="5" marL="2743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6pPr>
            <a:lvl7pPr indent="-292100" lvl="6" marL="3200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7pPr>
            <a:lvl8pPr indent="-292100" lvl="7" marL="3657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8pPr>
            <a:lvl9pPr indent="-292100" lvl="8" marL="4114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9pPr>
          </a:lstStyle>
          <a:p/>
        </p:txBody>
      </p:sp>
      <p:sp>
        <p:nvSpPr>
          <p:cNvPr id="53" name="Google Shape;53;p6"/>
          <p:cNvSpPr txBox="1"/>
          <p:nvPr>
            <p:ph idx="5"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9pPr>
          </a:lstStyle>
          <a:p/>
        </p:txBody>
      </p:sp>
      <p:sp>
        <p:nvSpPr>
          <p:cNvPr id="54" name="Google Shape;54;p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55" name="Google Shape;55;p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56" name="Google Shape;56;p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57" name="Shape 57"/>
        <p:cNvGrpSpPr/>
        <p:nvPr/>
      </p:nvGrpSpPr>
      <p:grpSpPr>
        <a:xfrm>
          <a:off x="0" y="0"/>
          <a:ext cx="0" cy="0"/>
          <a:chOff x="0" y="0"/>
          <a:chExt cx="0" cy="0"/>
        </a:xfrm>
      </p:grpSpPr>
      <p:pic>
        <p:nvPicPr>
          <p:cNvPr id="58" name="Google Shape;58;p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59" name="Google Shape;59;p7"/>
          <p:cNvSpPr txBox="1"/>
          <p:nvPr>
            <p:ph type="title"/>
          </p:nvPr>
        </p:nvSpPr>
        <p:spPr>
          <a:xfrm>
            <a:off x="277500" y="22860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60" name="Google Shape;60;p7"/>
          <p:cNvSpPr txBox="1"/>
          <p:nvPr>
            <p:ph idx="1" type="subTitle"/>
          </p:nvPr>
        </p:nvSpPr>
        <p:spPr>
          <a:xfrm>
            <a:off x="5067075" y="3871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1" name="Google Shape;61;p7"/>
          <p:cNvSpPr txBox="1"/>
          <p:nvPr>
            <p:ph idx="2" type="subTitle"/>
          </p:nvPr>
        </p:nvSpPr>
        <p:spPr>
          <a:xfrm>
            <a:off x="5067075" y="10615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2" name="Google Shape;62;p7"/>
          <p:cNvSpPr txBox="1"/>
          <p:nvPr>
            <p:ph idx="3" type="subTitle"/>
          </p:nvPr>
        </p:nvSpPr>
        <p:spPr>
          <a:xfrm>
            <a:off x="5067075" y="17393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3" name="Google Shape;63;p7"/>
          <p:cNvSpPr txBox="1"/>
          <p:nvPr>
            <p:ph idx="4" type="subTitle"/>
          </p:nvPr>
        </p:nvSpPr>
        <p:spPr>
          <a:xfrm>
            <a:off x="5067075" y="242410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4" name="Google Shape;64;p7"/>
          <p:cNvSpPr txBox="1"/>
          <p:nvPr>
            <p:ph idx="5" type="subTitle"/>
          </p:nvPr>
        </p:nvSpPr>
        <p:spPr>
          <a:xfrm>
            <a:off x="5067075" y="309493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5" name="Google Shape;65;p7"/>
          <p:cNvSpPr txBox="1"/>
          <p:nvPr>
            <p:ph idx="6" type="subTitle"/>
          </p:nvPr>
        </p:nvSpPr>
        <p:spPr>
          <a:xfrm>
            <a:off x="5067075" y="37657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6" name="Google Shape;66;p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67" name="Google Shape;67;p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68" name="Google Shape;68;p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69" name="Shape 69"/>
        <p:cNvGrpSpPr/>
        <p:nvPr/>
      </p:nvGrpSpPr>
      <p:grpSpPr>
        <a:xfrm>
          <a:off x="0" y="0"/>
          <a:ext cx="0" cy="0"/>
          <a:chOff x="0" y="0"/>
          <a:chExt cx="0" cy="0"/>
        </a:xfrm>
      </p:grpSpPr>
      <p:pic>
        <p:nvPicPr>
          <p:cNvPr id="70" name="Google Shape;70;p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71" name="Google Shape;71;p8"/>
          <p:cNvSpPr/>
          <p:nvPr>
            <p:ph idx="2" type="pic"/>
          </p:nvPr>
        </p:nvSpPr>
        <p:spPr>
          <a:xfrm>
            <a:off x="4618950" y="228600"/>
            <a:ext cx="1370400" cy="1357500"/>
          </a:xfrm>
          <a:prstGeom prst="roundRect">
            <a:avLst>
              <a:gd fmla="val 16935" name="adj"/>
            </a:avLst>
          </a:prstGeom>
          <a:noFill/>
          <a:ln>
            <a:noFill/>
          </a:ln>
        </p:spPr>
      </p:sp>
      <p:sp>
        <p:nvSpPr>
          <p:cNvPr id="72" name="Google Shape;72;p8"/>
          <p:cNvSpPr txBox="1"/>
          <p:nvPr>
            <p:ph idx="1" type="subTitle"/>
          </p:nvPr>
        </p:nvSpPr>
        <p:spPr>
          <a:xfrm>
            <a:off x="4619000" y="1702322"/>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3" name="Google Shape;73;p8"/>
          <p:cNvSpPr txBox="1"/>
          <p:nvPr>
            <p:ph type="title"/>
          </p:nvPr>
        </p:nvSpPr>
        <p:spPr>
          <a:xfrm>
            <a:off x="228600" y="23475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74" name="Google Shape;74;p8"/>
          <p:cNvSpPr txBox="1"/>
          <p:nvPr>
            <p:ph idx="3" type="subTitle"/>
          </p:nvPr>
        </p:nvSpPr>
        <p:spPr>
          <a:xfrm>
            <a:off x="46190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5" name="Google Shape;75;p8"/>
          <p:cNvSpPr/>
          <p:nvPr>
            <p:ph idx="4" type="pic"/>
          </p:nvPr>
        </p:nvSpPr>
        <p:spPr>
          <a:xfrm>
            <a:off x="6080700" y="228600"/>
            <a:ext cx="1370400" cy="1357500"/>
          </a:xfrm>
          <a:prstGeom prst="roundRect">
            <a:avLst>
              <a:gd fmla="val 16935" name="adj"/>
            </a:avLst>
          </a:prstGeom>
          <a:noFill/>
          <a:ln>
            <a:noFill/>
          </a:ln>
        </p:spPr>
      </p:sp>
      <p:sp>
        <p:nvSpPr>
          <p:cNvPr id="76" name="Google Shape;76;p8"/>
          <p:cNvSpPr txBox="1"/>
          <p:nvPr>
            <p:ph idx="5" type="subTitle"/>
          </p:nvPr>
        </p:nvSpPr>
        <p:spPr>
          <a:xfrm>
            <a:off x="608075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7" name="Google Shape;77;p8"/>
          <p:cNvSpPr txBox="1"/>
          <p:nvPr>
            <p:ph idx="6" type="subTitle"/>
          </p:nvPr>
        </p:nvSpPr>
        <p:spPr>
          <a:xfrm>
            <a:off x="608075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8" name="Google Shape;78;p8"/>
          <p:cNvSpPr/>
          <p:nvPr>
            <p:ph idx="7" type="pic"/>
          </p:nvPr>
        </p:nvSpPr>
        <p:spPr>
          <a:xfrm>
            <a:off x="7542450" y="228600"/>
            <a:ext cx="1370400" cy="1357500"/>
          </a:xfrm>
          <a:prstGeom prst="roundRect">
            <a:avLst>
              <a:gd fmla="val 16935" name="adj"/>
            </a:avLst>
          </a:prstGeom>
          <a:noFill/>
          <a:ln>
            <a:noFill/>
          </a:ln>
        </p:spPr>
      </p:sp>
      <p:sp>
        <p:nvSpPr>
          <p:cNvPr id="79" name="Google Shape;79;p8"/>
          <p:cNvSpPr txBox="1"/>
          <p:nvPr>
            <p:ph idx="8" type="subTitle"/>
          </p:nvPr>
        </p:nvSpPr>
        <p:spPr>
          <a:xfrm>
            <a:off x="754250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0" name="Google Shape;80;p8"/>
          <p:cNvSpPr txBox="1"/>
          <p:nvPr>
            <p:ph idx="9" type="subTitle"/>
          </p:nvPr>
        </p:nvSpPr>
        <p:spPr>
          <a:xfrm>
            <a:off x="75425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1" name="Google Shape;81;p8"/>
          <p:cNvSpPr/>
          <p:nvPr>
            <p:ph idx="13" type="pic"/>
          </p:nvPr>
        </p:nvSpPr>
        <p:spPr>
          <a:xfrm>
            <a:off x="4618950" y="2295725"/>
            <a:ext cx="1370400" cy="1357500"/>
          </a:xfrm>
          <a:prstGeom prst="roundRect">
            <a:avLst>
              <a:gd fmla="val 16935" name="adj"/>
            </a:avLst>
          </a:prstGeom>
          <a:noFill/>
          <a:ln>
            <a:noFill/>
          </a:ln>
        </p:spPr>
      </p:sp>
      <p:sp>
        <p:nvSpPr>
          <p:cNvPr id="82" name="Google Shape;82;p8"/>
          <p:cNvSpPr txBox="1"/>
          <p:nvPr>
            <p:ph idx="14" type="subTitle"/>
          </p:nvPr>
        </p:nvSpPr>
        <p:spPr>
          <a:xfrm>
            <a:off x="46190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3" name="Google Shape;83;p8"/>
          <p:cNvSpPr txBox="1"/>
          <p:nvPr>
            <p:ph idx="15" type="subTitle"/>
          </p:nvPr>
        </p:nvSpPr>
        <p:spPr>
          <a:xfrm>
            <a:off x="46190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4" name="Google Shape;84;p8"/>
          <p:cNvSpPr/>
          <p:nvPr>
            <p:ph idx="16" type="pic"/>
          </p:nvPr>
        </p:nvSpPr>
        <p:spPr>
          <a:xfrm>
            <a:off x="6080700" y="2295725"/>
            <a:ext cx="1370400" cy="1357500"/>
          </a:xfrm>
          <a:prstGeom prst="roundRect">
            <a:avLst>
              <a:gd fmla="val 16935" name="adj"/>
            </a:avLst>
          </a:prstGeom>
          <a:noFill/>
          <a:ln>
            <a:noFill/>
          </a:ln>
        </p:spPr>
      </p:sp>
      <p:sp>
        <p:nvSpPr>
          <p:cNvPr id="85" name="Google Shape;85;p8"/>
          <p:cNvSpPr txBox="1"/>
          <p:nvPr>
            <p:ph idx="17" type="subTitle"/>
          </p:nvPr>
        </p:nvSpPr>
        <p:spPr>
          <a:xfrm>
            <a:off x="6080750" y="3769447"/>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6" name="Google Shape;86;p8"/>
          <p:cNvSpPr txBox="1"/>
          <p:nvPr>
            <p:ph idx="18" type="subTitle"/>
          </p:nvPr>
        </p:nvSpPr>
        <p:spPr>
          <a:xfrm>
            <a:off x="608075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7" name="Google Shape;87;p8"/>
          <p:cNvSpPr/>
          <p:nvPr>
            <p:ph idx="19" type="pic"/>
          </p:nvPr>
        </p:nvSpPr>
        <p:spPr>
          <a:xfrm>
            <a:off x="7542450" y="2295725"/>
            <a:ext cx="1370400" cy="1357500"/>
          </a:xfrm>
          <a:prstGeom prst="roundRect">
            <a:avLst>
              <a:gd fmla="val 16935" name="adj"/>
            </a:avLst>
          </a:prstGeom>
          <a:noFill/>
          <a:ln>
            <a:noFill/>
          </a:ln>
        </p:spPr>
      </p:sp>
      <p:sp>
        <p:nvSpPr>
          <p:cNvPr id="88" name="Google Shape;88;p8"/>
          <p:cNvSpPr txBox="1"/>
          <p:nvPr>
            <p:ph idx="20" type="subTitle"/>
          </p:nvPr>
        </p:nvSpPr>
        <p:spPr>
          <a:xfrm>
            <a:off x="75425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9" name="Google Shape;89;p8"/>
          <p:cNvSpPr txBox="1"/>
          <p:nvPr>
            <p:ph idx="21" type="subTitle"/>
          </p:nvPr>
        </p:nvSpPr>
        <p:spPr>
          <a:xfrm>
            <a:off x="75425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90" name="Google Shape;90;p8"/>
          <p:cNvSpPr txBox="1"/>
          <p:nvPr>
            <p:ph idx="2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1" name="Google Shape;91;p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92" name="Google Shape;92;p8"/>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93" name="Shape 93"/>
        <p:cNvGrpSpPr/>
        <p:nvPr/>
      </p:nvGrpSpPr>
      <p:grpSpPr>
        <a:xfrm>
          <a:off x="0" y="0"/>
          <a:ext cx="0" cy="0"/>
          <a:chOff x="0" y="0"/>
          <a:chExt cx="0" cy="0"/>
        </a:xfrm>
      </p:grpSpPr>
      <p:pic>
        <p:nvPicPr>
          <p:cNvPr id="94" name="Google Shape;94;p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5" name="Google Shape;95;p9"/>
          <p:cNvSpPr/>
          <p:nvPr>
            <p:ph idx="2" type="pic"/>
          </p:nvPr>
        </p:nvSpPr>
        <p:spPr>
          <a:xfrm>
            <a:off x="9425" y="-3075"/>
            <a:ext cx="9144000" cy="4641000"/>
          </a:xfrm>
          <a:prstGeom prst="rect">
            <a:avLst/>
          </a:prstGeom>
          <a:noFill/>
          <a:ln>
            <a:noFill/>
          </a:ln>
        </p:spPr>
      </p:sp>
      <p:sp>
        <p:nvSpPr>
          <p:cNvPr id="96" name="Google Shape;96;p9"/>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solidFill>
                  <a:schemeClr val="dk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9pPr>
          </a:lstStyle>
          <a:p/>
        </p:txBody>
      </p:sp>
      <p:sp>
        <p:nvSpPr>
          <p:cNvPr id="97" name="Google Shape;97;p9"/>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1pPr>
            <a:lvl2pPr lvl="1">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2pPr>
            <a:lvl3pPr lvl="2">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3pPr>
            <a:lvl4pPr lvl="3">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4pPr>
            <a:lvl5pPr lvl="4">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5pPr>
            <a:lvl6pPr lvl="5">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6pPr>
            <a:lvl7pPr lvl="6">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7pPr>
            <a:lvl8pPr lvl="7">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8pPr>
            <a:lvl9pPr lvl="8">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9pPr>
          </a:lstStyle>
          <a:p/>
        </p:txBody>
      </p:sp>
      <p:sp>
        <p:nvSpPr>
          <p:cNvPr id="98" name="Google Shape;98;p9"/>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9" name="Google Shape;99;p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00" name="Google Shape;100;p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01" name="Shape 101"/>
        <p:cNvGrpSpPr/>
        <p:nvPr/>
      </p:nvGrpSpPr>
      <p:grpSpPr>
        <a:xfrm>
          <a:off x="0" y="0"/>
          <a:ext cx="0" cy="0"/>
          <a:chOff x="0" y="0"/>
          <a:chExt cx="0" cy="0"/>
        </a:xfrm>
      </p:grpSpPr>
      <p:pic>
        <p:nvPicPr>
          <p:cNvPr id="102" name="Google Shape;102;p10"/>
          <p:cNvPicPr preferRelativeResize="0"/>
          <p:nvPr/>
        </p:nvPicPr>
        <p:blipFill rotWithShape="1">
          <a:blip r:embed="rId2">
            <a:alphaModFix/>
          </a:blip>
          <a:srcRect b="-9999" l="0" r="0" t="0"/>
          <a:stretch/>
        </p:blipFill>
        <p:spPr>
          <a:xfrm>
            <a:off x="0" y="0"/>
            <a:ext cx="9144003" cy="5143501"/>
          </a:xfrm>
          <a:prstGeom prst="rect">
            <a:avLst/>
          </a:prstGeom>
          <a:noFill/>
          <a:ln>
            <a:noFill/>
          </a:ln>
        </p:spPr>
      </p:pic>
      <p:grpSp>
        <p:nvGrpSpPr>
          <p:cNvPr id="103" name="Google Shape;103;p10"/>
          <p:cNvGrpSpPr/>
          <p:nvPr/>
        </p:nvGrpSpPr>
        <p:grpSpPr>
          <a:xfrm rot="5400000">
            <a:off x="8691475" y="228504"/>
            <a:ext cx="228589" cy="228623"/>
            <a:chOff x="1688332" y="4135245"/>
            <a:chExt cx="338700" cy="338700"/>
          </a:xfrm>
        </p:grpSpPr>
        <p:sp>
          <p:nvSpPr>
            <p:cNvPr id="104" name="Google Shape;104;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05" name="Google Shape;105;p10"/>
            <p:cNvGrpSpPr/>
            <p:nvPr/>
          </p:nvGrpSpPr>
          <p:grpSpPr>
            <a:xfrm rot="-5400000">
              <a:off x="1787014" y="4262191"/>
              <a:ext cx="169598" cy="84809"/>
              <a:chOff x="498725" y="2069800"/>
              <a:chExt cx="205200" cy="102600"/>
            </a:xfrm>
          </p:grpSpPr>
          <p:cxnSp>
            <p:nvCxnSpPr>
              <p:cNvPr id="106" name="Google Shape;106;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07" name="Google Shape;107;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08" name="Google Shape;108;p10"/>
          <p:cNvSpPr/>
          <p:nvPr>
            <p:ph idx="2" type="pic"/>
          </p:nvPr>
        </p:nvSpPr>
        <p:spPr>
          <a:xfrm>
            <a:off x="426700" y="1896600"/>
            <a:ext cx="665400" cy="685500"/>
          </a:xfrm>
          <a:prstGeom prst="roundRect">
            <a:avLst>
              <a:gd fmla="val 17601" name="adj"/>
            </a:avLst>
          </a:prstGeom>
          <a:noFill/>
          <a:ln>
            <a:noFill/>
          </a:ln>
        </p:spPr>
      </p:sp>
      <p:sp>
        <p:nvSpPr>
          <p:cNvPr id="109" name="Google Shape;109;p10"/>
          <p:cNvSpPr txBox="1"/>
          <p:nvPr>
            <p:ph idx="1" type="subTitle"/>
          </p:nvPr>
        </p:nvSpPr>
        <p:spPr>
          <a:xfrm>
            <a:off x="426700" y="2814635"/>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0" name="Google Shape;110;p10"/>
          <p:cNvSpPr txBox="1"/>
          <p:nvPr>
            <p:ph idx="3" type="subTitle"/>
          </p:nvPr>
        </p:nvSpPr>
        <p:spPr>
          <a:xfrm>
            <a:off x="4267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1" name="Google Shape;111;p10"/>
          <p:cNvSpPr/>
          <p:nvPr>
            <p:ph idx="4" type="pic"/>
          </p:nvPr>
        </p:nvSpPr>
        <p:spPr>
          <a:xfrm>
            <a:off x="2621800" y="1896600"/>
            <a:ext cx="665400" cy="685500"/>
          </a:xfrm>
          <a:prstGeom prst="roundRect">
            <a:avLst>
              <a:gd fmla="val 17601" name="adj"/>
            </a:avLst>
          </a:prstGeom>
          <a:noFill/>
          <a:ln>
            <a:noFill/>
          </a:ln>
        </p:spPr>
      </p:sp>
      <p:sp>
        <p:nvSpPr>
          <p:cNvPr id="112" name="Google Shape;112;p10"/>
          <p:cNvSpPr txBox="1"/>
          <p:nvPr>
            <p:ph idx="5" type="subTitle"/>
          </p:nvPr>
        </p:nvSpPr>
        <p:spPr>
          <a:xfrm>
            <a:off x="26218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3" name="Google Shape;113;p10"/>
          <p:cNvSpPr txBox="1"/>
          <p:nvPr>
            <p:ph idx="6" type="subTitle"/>
          </p:nvPr>
        </p:nvSpPr>
        <p:spPr>
          <a:xfrm>
            <a:off x="2621800" y="3265334"/>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4" name="Google Shape;114;p10"/>
          <p:cNvSpPr/>
          <p:nvPr>
            <p:ph idx="7" type="pic"/>
          </p:nvPr>
        </p:nvSpPr>
        <p:spPr>
          <a:xfrm>
            <a:off x="4816900" y="1896600"/>
            <a:ext cx="665400" cy="685500"/>
          </a:xfrm>
          <a:prstGeom prst="roundRect">
            <a:avLst>
              <a:gd fmla="val 17601" name="adj"/>
            </a:avLst>
          </a:prstGeom>
          <a:noFill/>
          <a:ln>
            <a:noFill/>
          </a:ln>
        </p:spPr>
      </p:sp>
      <p:sp>
        <p:nvSpPr>
          <p:cNvPr id="115" name="Google Shape;115;p10"/>
          <p:cNvSpPr txBox="1"/>
          <p:nvPr>
            <p:ph idx="8" type="subTitle"/>
          </p:nvPr>
        </p:nvSpPr>
        <p:spPr>
          <a:xfrm>
            <a:off x="48169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6" name="Google Shape;116;p10"/>
          <p:cNvSpPr txBox="1"/>
          <p:nvPr>
            <p:ph idx="9" type="subTitle"/>
          </p:nvPr>
        </p:nvSpPr>
        <p:spPr>
          <a:xfrm>
            <a:off x="48169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7" name="Google Shape;117;p10"/>
          <p:cNvSpPr/>
          <p:nvPr>
            <p:ph idx="13" type="pic"/>
          </p:nvPr>
        </p:nvSpPr>
        <p:spPr>
          <a:xfrm>
            <a:off x="7012000" y="1896600"/>
            <a:ext cx="665400" cy="685500"/>
          </a:xfrm>
          <a:prstGeom prst="roundRect">
            <a:avLst>
              <a:gd fmla="val 17601" name="adj"/>
            </a:avLst>
          </a:prstGeom>
          <a:noFill/>
          <a:ln>
            <a:noFill/>
          </a:ln>
        </p:spPr>
      </p:sp>
      <p:sp>
        <p:nvSpPr>
          <p:cNvPr id="118" name="Google Shape;118;p10"/>
          <p:cNvSpPr txBox="1"/>
          <p:nvPr>
            <p:ph idx="14" type="subTitle"/>
          </p:nvPr>
        </p:nvSpPr>
        <p:spPr>
          <a:xfrm>
            <a:off x="70120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9" name="Google Shape;119;p10"/>
          <p:cNvSpPr txBox="1"/>
          <p:nvPr>
            <p:ph idx="15" type="subTitle"/>
          </p:nvPr>
        </p:nvSpPr>
        <p:spPr>
          <a:xfrm>
            <a:off x="70120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20" name="Google Shape;120;p1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0"/>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22" name="Google Shape;122;p1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23" name="Google Shape;123;p10"/>
          <p:cNvSpPr txBox="1"/>
          <p:nvPr>
            <p:ph idx="17"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24" name="Shape 124"/>
        <p:cNvGrpSpPr/>
        <p:nvPr/>
      </p:nvGrpSpPr>
      <p:grpSpPr>
        <a:xfrm>
          <a:off x="0" y="0"/>
          <a:ext cx="0" cy="0"/>
          <a:chOff x="0" y="0"/>
          <a:chExt cx="0" cy="0"/>
        </a:xfrm>
      </p:grpSpPr>
      <p:pic>
        <p:nvPicPr>
          <p:cNvPr id="125" name="Google Shape;125;p1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26" name="Google Shape;126;p11"/>
          <p:cNvSpPr txBox="1"/>
          <p:nvPr>
            <p:ph idx="1" type="subTitle"/>
          </p:nvPr>
        </p:nvSpPr>
        <p:spPr>
          <a:xfrm>
            <a:off x="4314775" y="3818375"/>
            <a:ext cx="4230600" cy="45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lt1"/>
              </a:buClr>
              <a:buSzPts val="1400"/>
              <a:buFont typeface="Urbanist Medium"/>
              <a:buNone/>
              <a:defRPr>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27" name="Google Shape;127;p11"/>
          <p:cNvSpPr txBox="1"/>
          <p:nvPr>
            <p:ph type="title"/>
          </p:nvPr>
        </p:nvSpPr>
        <p:spPr>
          <a:xfrm>
            <a:off x="228600" y="290448"/>
            <a:ext cx="3655800" cy="2407500"/>
          </a:xfrm>
          <a:prstGeom prst="rect">
            <a:avLst/>
          </a:prstGeom>
          <a:noFill/>
          <a:ln>
            <a:noFill/>
          </a:ln>
        </p:spPr>
        <p:txBody>
          <a:bodyPr anchorCtr="0" anchor="ctr" bIns="91425" lIns="0" spcFirstLastPara="1" rIns="91425" wrap="square" tIns="91425">
            <a:sp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cxnSp>
        <p:nvCxnSpPr>
          <p:cNvPr id="128" name="Google Shape;12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29" name="Google Shape;12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1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31" name="Google Shape;131;p11"/>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32" name="Google Shape;132;p1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33" name="Google Shape;133;p11"/>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34" name="Shape 134"/>
        <p:cNvGrpSpPr/>
        <p:nvPr/>
      </p:nvGrpSpPr>
      <p:grpSpPr>
        <a:xfrm>
          <a:off x="0" y="0"/>
          <a:ext cx="0" cy="0"/>
          <a:chOff x="0" y="0"/>
          <a:chExt cx="0" cy="0"/>
        </a:xfrm>
      </p:grpSpPr>
      <p:pic>
        <p:nvPicPr>
          <p:cNvPr id="135" name="Google Shape;135;p1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36" name="Google Shape;136;p12"/>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9pPr>
          </a:lstStyle>
          <a:p/>
        </p:txBody>
      </p:sp>
      <p:sp>
        <p:nvSpPr>
          <p:cNvPr id="137" name="Google Shape;137;p12"/>
          <p:cNvSpPr/>
          <p:nvPr>
            <p:ph idx="2" type="pic"/>
          </p:nvPr>
        </p:nvSpPr>
        <p:spPr>
          <a:xfrm>
            <a:off x="5342000" y="457200"/>
            <a:ext cx="3573300" cy="3995400"/>
          </a:xfrm>
          <a:prstGeom prst="roundRect">
            <a:avLst>
              <a:gd fmla="val 6865" name="adj"/>
            </a:avLst>
          </a:prstGeom>
          <a:noFill/>
          <a:ln>
            <a:noFill/>
          </a:ln>
        </p:spPr>
      </p:sp>
      <p:sp>
        <p:nvSpPr>
          <p:cNvPr id="138" name="Google Shape;138;p12"/>
          <p:cNvSpPr txBox="1"/>
          <p:nvPr>
            <p:ph idx="3"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9" name="Google Shape;139;p12"/>
          <p:cNvSpPr txBox="1"/>
          <p:nvPr>
            <p:ph type="title"/>
          </p:nvPr>
        </p:nvSpPr>
        <p:spPr>
          <a:xfrm>
            <a:off x="228600" y="613525"/>
            <a:ext cx="42966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9pPr>
          </a:lstStyle>
          <a:p/>
        </p:txBody>
      </p:sp>
      <p:sp>
        <p:nvSpPr>
          <p:cNvPr id="140" name="Google Shape;140;p1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41" name="Google Shape;141;p12"/>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42" name="Google Shape;142;p1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43" name="Google Shape;143;p12"/>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44" name="Shape 144"/>
        <p:cNvGrpSpPr/>
        <p:nvPr/>
      </p:nvGrpSpPr>
      <p:grpSpPr>
        <a:xfrm>
          <a:off x="0" y="0"/>
          <a:ext cx="0" cy="0"/>
          <a:chOff x="0" y="0"/>
          <a:chExt cx="0" cy="0"/>
        </a:xfrm>
      </p:grpSpPr>
      <p:pic>
        <p:nvPicPr>
          <p:cNvPr id="145" name="Google Shape;145;p1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46" name="Google Shape;146;p13"/>
          <p:cNvSpPr txBox="1"/>
          <p:nvPr>
            <p:ph type="title"/>
          </p:nvPr>
        </p:nvSpPr>
        <p:spPr>
          <a:xfrm>
            <a:off x="3386700" y="572202"/>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47" name="Google Shape;147;p13"/>
          <p:cNvSpPr txBox="1"/>
          <p:nvPr>
            <p:ph idx="1" type="subTitle"/>
          </p:nvPr>
        </p:nvSpPr>
        <p:spPr>
          <a:xfrm>
            <a:off x="338670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48" name="Google Shape;148;p13"/>
          <p:cNvSpPr txBox="1"/>
          <p:nvPr>
            <p:ph idx="2" type="subTitle"/>
          </p:nvPr>
        </p:nvSpPr>
        <p:spPr>
          <a:xfrm>
            <a:off x="338670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49" name="Google Shape;149;p13"/>
          <p:cNvSpPr txBox="1"/>
          <p:nvPr>
            <p:ph idx="3" type="title"/>
          </p:nvPr>
        </p:nvSpPr>
        <p:spPr>
          <a:xfrm>
            <a:off x="6307650" y="564931"/>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50" name="Google Shape;150;p13"/>
          <p:cNvSpPr txBox="1"/>
          <p:nvPr>
            <p:ph idx="4" type="subTitle"/>
          </p:nvPr>
        </p:nvSpPr>
        <p:spPr>
          <a:xfrm>
            <a:off x="630765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51" name="Google Shape;151;p13"/>
          <p:cNvSpPr txBox="1"/>
          <p:nvPr>
            <p:ph idx="5" type="subTitle"/>
          </p:nvPr>
        </p:nvSpPr>
        <p:spPr>
          <a:xfrm>
            <a:off x="630765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52" name="Google Shape;152;p13"/>
          <p:cNvSpPr txBox="1"/>
          <p:nvPr>
            <p:ph idx="6"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1400"/>
              <a:buFont typeface="Urbanist"/>
              <a:buNone/>
              <a:defRPr>
                <a:solidFill>
                  <a:schemeClr val="dk2"/>
                </a:solidFill>
              </a:defRPr>
            </a:lvl2pPr>
            <a:lvl3pPr lvl="2">
              <a:spcBef>
                <a:spcPts val="0"/>
              </a:spcBef>
              <a:spcAft>
                <a:spcPts val="0"/>
              </a:spcAft>
              <a:buClr>
                <a:schemeClr val="dk2"/>
              </a:buClr>
              <a:buSzPts val="1400"/>
              <a:buFont typeface="Urbanist"/>
              <a:buNone/>
              <a:defRPr>
                <a:solidFill>
                  <a:schemeClr val="dk2"/>
                </a:solidFill>
              </a:defRPr>
            </a:lvl3pPr>
            <a:lvl4pPr lvl="3">
              <a:spcBef>
                <a:spcPts val="0"/>
              </a:spcBef>
              <a:spcAft>
                <a:spcPts val="0"/>
              </a:spcAft>
              <a:buClr>
                <a:schemeClr val="dk2"/>
              </a:buClr>
              <a:buSzPts val="1400"/>
              <a:buFont typeface="Urbanist"/>
              <a:buNone/>
              <a:defRPr>
                <a:solidFill>
                  <a:schemeClr val="dk2"/>
                </a:solidFill>
              </a:defRPr>
            </a:lvl4pPr>
            <a:lvl5pPr lvl="4">
              <a:spcBef>
                <a:spcPts val="0"/>
              </a:spcBef>
              <a:spcAft>
                <a:spcPts val="0"/>
              </a:spcAft>
              <a:buClr>
                <a:schemeClr val="dk2"/>
              </a:buClr>
              <a:buSzPts val="1400"/>
              <a:buFont typeface="Urbanist"/>
              <a:buNone/>
              <a:defRPr>
                <a:solidFill>
                  <a:schemeClr val="dk2"/>
                </a:solidFill>
              </a:defRPr>
            </a:lvl5pPr>
            <a:lvl6pPr lvl="5">
              <a:spcBef>
                <a:spcPts val="0"/>
              </a:spcBef>
              <a:spcAft>
                <a:spcPts val="0"/>
              </a:spcAft>
              <a:buClr>
                <a:schemeClr val="dk2"/>
              </a:buClr>
              <a:buSzPts val="1400"/>
              <a:buFont typeface="Urbanist"/>
              <a:buNone/>
              <a:defRPr>
                <a:solidFill>
                  <a:schemeClr val="dk2"/>
                </a:solidFill>
              </a:defRPr>
            </a:lvl6pPr>
            <a:lvl7pPr lvl="6">
              <a:spcBef>
                <a:spcPts val="0"/>
              </a:spcBef>
              <a:spcAft>
                <a:spcPts val="0"/>
              </a:spcAft>
              <a:buClr>
                <a:schemeClr val="dk2"/>
              </a:buClr>
              <a:buSzPts val="1400"/>
              <a:buFont typeface="Urbanist"/>
              <a:buNone/>
              <a:defRPr>
                <a:solidFill>
                  <a:schemeClr val="dk2"/>
                </a:solidFill>
              </a:defRPr>
            </a:lvl7pPr>
            <a:lvl8pPr lvl="7">
              <a:spcBef>
                <a:spcPts val="0"/>
              </a:spcBef>
              <a:spcAft>
                <a:spcPts val="0"/>
              </a:spcAft>
              <a:buClr>
                <a:schemeClr val="dk2"/>
              </a:buClr>
              <a:buSzPts val="1400"/>
              <a:buFont typeface="Urbanist"/>
              <a:buNone/>
              <a:defRPr>
                <a:solidFill>
                  <a:schemeClr val="dk2"/>
                </a:solidFill>
              </a:defRPr>
            </a:lvl8pPr>
            <a:lvl9pPr lvl="8">
              <a:spcBef>
                <a:spcPts val="0"/>
              </a:spcBef>
              <a:spcAft>
                <a:spcPts val="0"/>
              </a:spcAft>
              <a:buClr>
                <a:schemeClr val="dk2"/>
              </a:buClr>
              <a:buSzPts val="1400"/>
              <a:buFont typeface="Urbanist"/>
              <a:buNone/>
              <a:defRPr>
                <a:solidFill>
                  <a:schemeClr val="dk2"/>
                </a:solidFill>
              </a:defRPr>
            </a:lvl9pPr>
          </a:lstStyle>
          <a:p/>
        </p:txBody>
      </p:sp>
      <p:sp>
        <p:nvSpPr>
          <p:cNvPr id="153" name="Google Shape;153;p13"/>
          <p:cNvSpPr txBox="1"/>
          <p:nvPr>
            <p:ph idx="7" type="subTitle"/>
          </p:nvPr>
        </p:nvSpPr>
        <p:spPr>
          <a:xfrm>
            <a:off x="3482800" y="4057204"/>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54" name="Google Shape;154;p13"/>
          <p:cNvSpPr txBox="1"/>
          <p:nvPr>
            <p:ph idx="8" type="subTitle"/>
          </p:nvPr>
        </p:nvSpPr>
        <p:spPr>
          <a:xfrm>
            <a:off x="6405300" y="4057079"/>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grpSp>
        <p:nvGrpSpPr>
          <p:cNvPr id="155" name="Google Shape;155;p13"/>
          <p:cNvGrpSpPr/>
          <p:nvPr/>
        </p:nvGrpSpPr>
        <p:grpSpPr>
          <a:xfrm rot="-5400000">
            <a:off x="4794488" y="4206993"/>
            <a:ext cx="141588" cy="73485"/>
            <a:chOff x="498725" y="2069800"/>
            <a:chExt cx="205200" cy="106500"/>
          </a:xfrm>
        </p:grpSpPr>
        <p:cxnSp>
          <p:nvCxnSpPr>
            <p:cNvPr id="156" name="Google Shape;156;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57" name="Google Shape;157;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158" name="Google Shape;158;p13"/>
          <p:cNvSpPr txBox="1"/>
          <p:nvPr>
            <p:ph idx="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59" name="Google Shape;159;p1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60" name="Google Shape;160;p1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161" name="Shape 161"/>
        <p:cNvGrpSpPr/>
        <p:nvPr/>
      </p:nvGrpSpPr>
      <p:grpSpPr>
        <a:xfrm>
          <a:off x="0" y="0"/>
          <a:ext cx="0" cy="0"/>
          <a:chOff x="0" y="0"/>
          <a:chExt cx="0" cy="0"/>
        </a:xfrm>
      </p:grpSpPr>
      <p:pic>
        <p:nvPicPr>
          <p:cNvPr id="162" name="Google Shape;162;p1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63" name="Google Shape;163;p14"/>
          <p:cNvSpPr txBox="1"/>
          <p:nvPr>
            <p:ph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lvl2pPr>
            <a:lvl3pPr lvl="2">
              <a:spcBef>
                <a:spcPts val="0"/>
              </a:spcBef>
              <a:spcAft>
                <a:spcPts val="0"/>
              </a:spcAft>
              <a:buClr>
                <a:schemeClr val="lt1"/>
              </a:buClr>
              <a:buSzPts val="1400"/>
              <a:buFont typeface="Urbanist"/>
              <a:buNone/>
              <a:defRPr/>
            </a:lvl3pPr>
            <a:lvl4pPr lvl="3">
              <a:spcBef>
                <a:spcPts val="0"/>
              </a:spcBef>
              <a:spcAft>
                <a:spcPts val="0"/>
              </a:spcAft>
              <a:buClr>
                <a:schemeClr val="lt1"/>
              </a:buClr>
              <a:buSzPts val="1400"/>
              <a:buFont typeface="Urbanist"/>
              <a:buNone/>
              <a:defRPr/>
            </a:lvl4pPr>
            <a:lvl5pPr lvl="4">
              <a:spcBef>
                <a:spcPts val="0"/>
              </a:spcBef>
              <a:spcAft>
                <a:spcPts val="0"/>
              </a:spcAft>
              <a:buClr>
                <a:schemeClr val="lt1"/>
              </a:buClr>
              <a:buSzPts val="1400"/>
              <a:buFont typeface="Urbanist"/>
              <a:buNone/>
              <a:defRPr/>
            </a:lvl5pPr>
            <a:lvl6pPr lvl="5">
              <a:spcBef>
                <a:spcPts val="0"/>
              </a:spcBef>
              <a:spcAft>
                <a:spcPts val="0"/>
              </a:spcAft>
              <a:buClr>
                <a:schemeClr val="lt1"/>
              </a:buClr>
              <a:buSzPts val="1400"/>
              <a:buFont typeface="Urbanist"/>
              <a:buNone/>
              <a:defRPr/>
            </a:lvl6pPr>
            <a:lvl7pPr lvl="6">
              <a:spcBef>
                <a:spcPts val="0"/>
              </a:spcBef>
              <a:spcAft>
                <a:spcPts val="0"/>
              </a:spcAft>
              <a:buClr>
                <a:schemeClr val="lt1"/>
              </a:buClr>
              <a:buSzPts val="1400"/>
              <a:buFont typeface="Urbanist"/>
              <a:buNone/>
              <a:defRPr/>
            </a:lvl7pPr>
            <a:lvl8pPr lvl="7">
              <a:spcBef>
                <a:spcPts val="0"/>
              </a:spcBef>
              <a:spcAft>
                <a:spcPts val="0"/>
              </a:spcAft>
              <a:buClr>
                <a:schemeClr val="lt1"/>
              </a:buClr>
              <a:buSzPts val="1400"/>
              <a:buFont typeface="Urbanist"/>
              <a:buNone/>
              <a:defRPr/>
            </a:lvl8pPr>
            <a:lvl9pPr lvl="8">
              <a:spcBef>
                <a:spcPts val="0"/>
              </a:spcBef>
              <a:spcAft>
                <a:spcPts val="0"/>
              </a:spcAft>
              <a:buClr>
                <a:schemeClr val="lt1"/>
              </a:buClr>
              <a:buSzPts val="1400"/>
              <a:buFont typeface="Urbanist"/>
              <a:buNone/>
              <a:defRPr/>
            </a:lvl9pPr>
          </a:lstStyle>
          <a:p/>
        </p:txBody>
      </p:sp>
      <p:sp>
        <p:nvSpPr>
          <p:cNvPr id="164" name="Google Shape;164;p14"/>
          <p:cNvSpPr txBox="1"/>
          <p:nvPr>
            <p:ph idx="2" type="title"/>
          </p:nvPr>
        </p:nvSpPr>
        <p:spPr>
          <a:xfrm>
            <a:off x="3379125"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5" name="Google Shape;165;p14"/>
          <p:cNvSpPr txBox="1"/>
          <p:nvPr>
            <p:ph idx="1" type="subTitle"/>
          </p:nvPr>
        </p:nvSpPr>
        <p:spPr>
          <a:xfrm>
            <a:off x="3379125"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6" name="Google Shape;166;p14"/>
          <p:cNvSpPr txBox="1"/>
          <p:nvPr>
            <p:ph idx="3" type="subTitle"/>
          </p:nvPr>
        </p:nvSpPr>
        <p:spPr>
          <a:xfrm>
            <a:off x="3379123"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67" name="Google Shape;167;p14"/>
          <p:cNvSpPr txBox="1"/>
          <p:nvPr>
            <p:ph idx="4" type="title"/>
          </p:nvPr>
        </p:nvSpPr>
        <p:spPr>
          <a:xfrm>
            <a:off x="6318039"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8" name="Google Shape;168;p14"/>
          <p:cNvSpPr txBox="1"/>
          <p:nvPr>
            <p:ph idx="5" type="subTitle"/>
          </p:nvPr>
        </p:nvSpPr>
        <p:spPr>
          <a:xfrm>
            <a:off x="6318039"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9" name="Google Shape;169;p14"/>
          <p:cNvSpPr txBox="1"/>
          <p:nvPr>
            <p:ph idx="6" type="subTitle"/>
          </p:nvPr>
        </p:nvSpPr>
        <p:spPr>
          <a:xfrm>
            <a:off x="6318036"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0" name="Google Shape;170;p14"/>
          <p:cNvSpPr txBox="1"/>
          <p:nvPr>
            <p:ph idx="7" type="title"/>
          </p:nvPr>
        </p:nvSpPr>
        <p:spPr>
          <a:xfrm>
            <a:off x="6318039"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1" name="Google Shape;171;p14"/>
          <p:cNvSpPr txBox="1"/>
          <p:nvPr>
            <p:ph idx="8" type="subTitle"/>
          </p:nvPr>
        </p:nvSpPr>
        <p:spPr>
          <a:xfrm>
            <a:off x="6318039"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2" name="Google Shape;172;p14"/>
          <p:cNvSpPr txBox="1"/>
          <p:nvPr>
            <p:ph idx="9" type="subTitle"/>
          </p:nvPr>
        </p:nvSpPr>
        <p:spPr>
          <a:xfrm>
            <a:off x="6318036"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3" name="Google Shape;173;p14"/>
          <p:cNvSpPr txBox="1"/>
          <p:nvPr>
            <p:ph idx="13" type="title"/>
          </p:nvPr>
        </p:nvSpPr>
        <p:spPr>
          <a:xfrm>
            <a:off x="3379125"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4" name="Google Shape;174;p14"/>
          <p:cNvSpPr txBox="1"/>
          <p:nvPr>
            <p:ph idx="14" type="subTitle"/>
          </p:nvPr>
        </p:nvSpPr>
        <p:spPr>
          <a:xfrm>
            <a:off x="3379125"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5" name="Google Shape;175;p14"/>
          <p:cNvSpPr txBox="1"/>
          <p:nvPr>
            <p:ph idx="15" type="subTitle"/>
          </p:nvPr>
        </p:nvSpPr>
        <p:spPr>
          <a:xfrm>
            <a:off x="3379123"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6" name="Google Shape;176;p14"/>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77" name="Google Shape;177;p1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8" name="Google Shape;178;p14"/>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179" name="Shape 179"/>
        <p:cNvGrpSpPr/>
        <p:nvPr/>
      </p:nvGrpSpPr>
      <p:grpSpPr>
        <a:xfrm>
          <a:off x="0" y="0"/>
          <a:ext cx="0" cy="0"/>
          <a:chOff x="0" y="0"/>
          <a:chExt cx="0" cy="0"/>
        </a:xfrm>
      </p:grpSpPr>
      <p:pic>
        <p:nvPicPr>
          <p:cNvPr id="180" name="Google Shape;180;p1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81" name="Google Shape;181;p15"/>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82" name="Google Shape;182;p15"/>
          <p:cNvSpPr txBox="1"/>
          <p:nvPr>
            <p:ph type="title"/>
          </p:nvPr>
        </p:nvSpPr>
        <p:spPr>
          <a:xfrm>
            <a:off x="355225" y="1775475"/>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3" name="Google Shape;183;p15"/>
          <p:cNvSpPr txBox="1"/>
          <p:nvPr>
            <p:ph idx="2" type="subTitle"/>
          </p:nvPr>
        </p:nvSpPr>
        <p:spPr>
          <a:xfrm>
            <a:off x="35522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4" name="Google Shape;184;p15"/>
          <p:cNvSpPr txBox="1"/>
          <p:nvPr>
            <p:ph idx="3" type="title"/>
          </p:nvPr>
        </p:nvSpPr>
        <p:spPr>
          <a:xfrm>
            <a:off x="2543875"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5" name="Google Shape;185;p15"/>
          <p:cNvSpPr txBox="1"/>
          <p:nvPr>
            <p:ph idx="4" type="subTitle"/>
          </p:nvPr>
        </p:nvSpPr>
        <p:spPr>
          <a:xfrm>
            <a:off x="254387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6" name="Google Shape;186;p15"/>
          <p:cNvSpPr txBox="1"/>
          <p:nvPr>
            <p:ph idx="5" type="title"/>
          </p:nvPr>
        </p:nvSpPr>
        <p:spPr>
          <a:xfrm>
            <a:off x="47455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7" name="Google Shape;187;p15"/>
          <p:cNvSpPr txBox="1"/>
          <p:nvPr>
            <p:ph idx="6" type="subTitle"/>
          </p:nvPr>
        </p:nvSpPr>
        <p:spPr>
          <a:xfrm>
            <a:off x="47455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8" name="Google Shape;188;p15"/>
          <p:cNvSpPr txBox="1"/>
          <p:nvPr>
            <p:ph idx="7" type="title"/>
          </p:nvPr>
        </p:nvSpPr>
        <p:spPr>
          <a:xfrm>
            <a:off x="69423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9" name="Google Shape;189;p15"/>
          <p:cNvSpPr txBox="1"/>
          <p:nvPr>
            <p:ph idx="8" type="subTitle"/>
          </p:nvPr>
        </p:nvSpPr>
        <p:spPr>
          <a:xfrm>
            <a:off x="69423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90" name="Google Shape;190;p15"/>
          <p:cNvSpPr txBox="1"/>
          <p:nvPr>
            <p:ph idx="9" type="title"/>
          </p:nvPr>
        </p:nvSpPr>
        <p:spPr>
          <a:xfrm>
            <a:off x="228600" y="613525"/>
            <a:ext cx="3904500" cy="8649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91" name="Google Shape;191;p15"/>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92" name="Google Shape;192;p1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93" name="Google Shape;193;p1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194" name="Shape 194"/>
        <p:cNvGrpSpPr/>
        <p:nvPr/>
      </p:nvGrpSpPr>
      <p:grpSpPr>
        <a:xfrm>
          <a:off x="0" y="0"/>
          <a:ext cx="0" cy="0"/>
          <a:chOff x="0" y="0"/>
          <a:chExt cx="0" cy="0"/>
        </a:xfrm>
      </p:grpSpPr>
      <p:pic>
        <p:nvPicPr>
          <p:cNvPr id="195" name="Google Shape;195;p1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96" name="Google Shape;196;p16"/>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197" name="Google Shape;197;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198" name="Google Shape;198;p16"/>
          <p:cNvSpPr txBox="1"/>
          <p:nvPr>
            <p:ph type="title"/>
          </p:nvPr>
        </p:nvSpPr>
        <p:spPr>
          <a:xfrm>
            <a:off x="228600" y="369300"/>
            <a:ext cx="6480300" cy="587700"/>
          </a:xfrm>
          <a:prstGeom prst="rect">
            <a:avLst/>
          </a:prstGeom>
          <a:noFill/>
          <a:ln>
            <a:noFill/>
          </a:ln>
        </p:spPr>
        <p:txBody>
          <a:bodyPr anchorCtr="0" anchor="ctr" bIns="91425" lIns="0" spcFirstLastPara="1" rIns="91425" wrap="square" tIns="91425">
            <a:spAutoFit/>
          </a:bodyPr>
          <a:lstStyle>
            <a:lvl1pPr lvl="0">
              <a:lnSpc>
                <a:spcPct val="90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9pPr>
          </a:lstStyle>
          <a:p/>
        </p:txBody>
      </p:sp>
      <p:sp>
        <p:nvSpPr>
          <p:cNvPr id="199" name="Google Shape;199;p16"/>
          <p:cNvSpPr/>
          <p:nvPr>
            <p:ph idx="2"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00" name="Google Shape;200;p16"/>
          <p:cNvSpPr txBox="1"/>
          <p:nvPr>
            <p:ph idx="3" type="body"/>
          </p:nvPr>
        </p:nvSpPr>
        <p:spPr>
          <a:xfrm>
            <a:off x="5871500" y="2468775"/>
            <a:ext cx="2864700" cy="676500"/>
          </a:xfrm>
          <a:prstGeom prst="rect">
            <a:avLst/>
          </a:prstGeom>
          <a:noFill/>
          <a:ln>
            <a:noFill/>
          </a:ln>
        </p:spPr>
        <p:txBody>
          <a:bodyPr anchorCtr="0" anchor="ctr"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01" name="Google Shape;201;p16"/>
          <p:cNvSpPr txBox="1"/>
          <p:nvPr>
            <p:ph idx="4" type="body"/>
          </p:nvPr>
        </p:nvSpPr>
        <p:spPr>
          <a:xfrm>
            <a:off x="5871500" y="3553025"/>
            <a:ext cx="2864700" cy="696000"/>
          </a:xfrm>
          <a:prstGeom prst="rect">
            <a:avLst/>
          </a:prstGeom>
          <a:noFill/>
          <a:ln>
            <a:noFill/>
          </a:ln>
        </p:spPr>
        <p:txBody>
          <a:bodyPr anchorCtr="0" anchor="ctr" bIns="91425" lIns="0" spcFirstLastPara="1" rIns="91425" wrap="square" tIns="0">
            <a:noAutofit/>
          </a:bodyPr>
          <a:lstStyle>
            <a:lvl1pPr indent="-317500" lvl="0" marL="457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1pPr>
            <a:lvl2pPr indent="-317500" lvl="1" marL="914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2pPr>
            <a:lvl3pPr indent="-317500" lvl="2" marL="1371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3pPr>
            <a:lvl4pPr indent="-317500" lvl="3" marL="1828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4pPr>
            <a:lvl5pPr indent="-317500" lvl="4" marL="22860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5pPr>
            <a:lvl6pPr indent="-317500" lvl="5" marL="2743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6pPr>
            <a:lvl7pPr indent="-317500" lvl="6" marL="3200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7pPr>
            <a:lvl8pPr indent="-317500" lvl="7" marL="3657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8pPr>
            <a:lvl9pPr indent="-317500" lvl="8" marL="4114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02" name="Google Shape;202;p16"/>
          <p:cNvSpPr txBox="1"/>
          <p:nvPr>
            <p:ph idx="5" type="subTitle"/>
          </p:nvPr>
        </p:nvSpPr>
        <p:spPr>
          <a:xfrm>
            <a:off x="238800" y="2720113"/>
            <a:ext cx="2824500" cy="145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03" name="Google Shape;203;p1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04" name="Google Shape;204;p1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05" name="Google Shape;205;p1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06" name="Shape 206"/>
        <p:cNvGrpSpPr/>
        <p:nvPr/>
      </p:nvGrpSpPr>
      <p:grpSpPr>
        <a:xfrm>
          <a:off x="0" y="0"/>
          <a:ext cx="0" cy="0"/>
          <a:chOff x="0" y="0"/>
          <a:chExt cx="0" cy="0"/>
        </a:xfrm>
      </p:grpSpPr>
      <p:pic>
        <p:nvPicPr>
          <p:cNvPr id="207" name="Google Shape;207;p17"/>
          <p:cNvPicPr preferRelativeResize="0"/>
          <p:nvPr/>
        </p:nvPicPr>
        <p:blipFill rotWithShape="1">
          <a:blip r:embed="rId2">
            <a:alphaModFix/>
          </a:blip>
          <a:srcRect b="-9999" l="0" r="0" t="0"/>
          <a:stretch/>
        </p:blipFill>
        <p:spPr>
          <a:xfrm>
            <a:off x="0" y="0"/>
            <a:ext cx="9144003" cy="5143501"/>
          </a:xfrm>
          <a:prstGeom prst="rect">
            <a:avLst/>
          </a:prstGeom>
          <a:noFill/>
          <a:ln>
            <a:noFill/>
          </a:ln>
        </p:spPr>
      </p:pic>
      <p:cxnSp>
        <p:nvCxnSpPr>
          <p:cNvPr id="208" name="Google Shape;208;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9" name="Google Shape;209;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0" name="Google Shape;210;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1" name="Google Shape;211;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2" name="Google Shape;212;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3" name="Google Shape;213;p17"/>
          <p:cNvSpPr/>
          <p:nvPr>
            <p:ph idx="2"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14" name="Google Shape;214;p17"/>
          <p:cNvSpPr txBox="1"/>
          <p:nvPr>
            <p:ph idx="1" type="subTitle"/>
          </p:nvPr>
        </p:nvSpPr>
        <p:spPr>
          <a:xfrm>
            <a:off x="381950" y="2062875"/>
            <a:ext cx="1786500" cy="2364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15" name="Google Shape;215;p17"/>
          <p:cNvSpPr txBox="1"/>
          <p:nvPr>
            <p:ph idx="3" type="subTitle"/>
          </p:nvPr>
        </p:nvSpPr>
        <p:spPr>
          <a:xfrm>
            <a:off x="2580250" y="1528150"/>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16" name="Google Shape;216;p17"/>
          <p:cNvSpPr txBox="1"/>
          <p:nvPr>
            <p:ph idx="4" type="body"/>
          </p:nvPr>
        </p:nvSpPr>
        <p:spPr>
          <a:xfrm>
            <a:off x="2580250" y="1791652"/>
            <a:ext cx="2911500" cy="610500"/>
          </a:xfrm>
          <a:prstGeom prst="rect">
            <a:avLst/>
          </a:prstGeom>
          <a:noFill/>
          <a:ln>
            <a:noFill/>
          </a:ln>
        </p:spPr>
        <p:txBody>
          <a:bodyPr anchorCtr="0" anchor="ctr"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sz="1000"/>
            </a:lvl3pPr>
            <a:lvl4pPr indent="-292100" lvl="3" marL="1828800">
              <a:lnSpc>
                <a:spcPct val="100000"/>
              </a:lnSpc>
              <a:spcBef>
                <a:spcPts val="0"/>
              </a:spcBef>
              <a:spcAft>
                <a:spcPts val="0"/>
              </a:spcAft>
              <a:buSzPts val="1000"/>
              <a:buChar char="●"/>
              <a:defRPr sz="1000"/>
            </a:lvl4pPr>
            <a:lvl5pPr indent="-292100" lvl="4" marL="2286000">
              <a:lnSpc>
                <a:spcPct val="100000"/>
              </a:lnSpc>
              <a:spcBef>
                <a:spcPts val="0"/>
              </a:spcBef>
              <a:spcAft>
                <a:spcPts val="0"/>
              </a:spcAft>
              <a:buSzPts val="1000"/>
              <a:buChar char="○"/>
              <a:defRPr sz="1000"/>
            </a:lvl5pPr>
            <a:lvl6pPr indent="-292100" lvl="5" marL="2743200">
              <a:lnSpc>
                <a:spcPct val="100000"/>
              </a:lnSpc>
              <a:spcBef>
                <a:spcPts val="0"/>
              </a:spcBef>
              <a:spcAft>
                <a:spcPts val="0"/>
              </a:spcAft>
              <a:buSzPts val="1000"/>
              <a:buChar char="■"/>
              <a:defRPr sz="1000"/>
            </a:lvl6pPr>
            <a:lvl7pPr indent="-292100" lvl="6" marL="3200400">
              <a:lnSpc>
                <a:spcPct val="100000"/>
              </a:lnSpc>
              <a:spcBef>
                <a:spcPts val="0"/>
              </a:spcBef>
              <a:spcAft>
                <a:spcPts val="0"/>
              </a:spcAft>
              <a:buSzPts val="1000"/>
              <a:buChar char="●"/>
              <a:defRPr sz="1000"/>
            </a:lvl7pPr>
            <a:lvl8pPr indent="-292100" lvl="7" marL="3657600">
              <a:lnSpc>
                <a:spcPct val="100000"/>
              </a:lnSpc>
              <a:spcBef>
                <a:spcPts val="0"/>
              </a:spcBef>
              <a:spcAft>
                <a:spcPts val="0"/>
              </a:spcAft>
              <a:buSzPts val="1000"/>
              <a:buChar char="○"/>
              <a:defRPr sz="1000"/>
            </a:lvl8pPr>
            <a:lvl9pPr indent="-292100" lvl="8" marL="4114800">
              <a:lnSpc>
                <a:spcPct val="100000"/>
              </a:lnSpc>
              <a:spcBef>
                <a:spcPts val="0"/>
              </a:spcBef>
              <a:spcAft>
                <a:spcPts val="0"/>
              </a:spcAft>
              <a:buSzPts val="1000"/>
              <a:buChar char="■"/>
              <a:defRPr sz="1000"/>
            </a:lvl9pPr>
          </a:lstStyle>
          <a:p/>
        </p:txBody>
      </p:sp>
      <p:cxnSp>
        <p:nvCxnSpPr>
          <p:cNvPr id="217" name="Google Shape;217;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18" name="Google Shape;218;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17"/>
          <p:cNvSpPr txBox="1"/>
          <p:nvPr>
            <p:ph idx="5" type="subTitle"/>
          </p:nvPr>
        </p:nvSpPr>
        <p:spPr>
          <a:xfrm>
            <a:off x="2580250" y="26604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0" name="Google Shape;220;p17"/>
          <p:cNvSpPr txBox="1"/>
          <p:nvPr>
            <p:ph idx="6" type="body"/>
          </p:nvPr>
        </p:nvSpPr>
        <p:spPr>
          <a:xfrm>
            <a:off x="2580250" y="2931046"/>
            <a:ext cx="2911500" cy="6105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21" name="Google Shape;221;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2" name="Google Shape;222;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3" name="Google Shape;223;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4" name="Google Shape;224;p17"/>
          <p:cNvSpPr txBox="1"/>
          <p:nvPr>
            <p:ph idx="7" type="subTitle"/>
          </p:nvPr>
        </p:nvSpPr>
        <p:spPr>
          <a:xfrm>
            <a:off x="2567250" y="36718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5" name="Google Shape;225;p17"/>
          <p:cNvSpPr txBox="1"/>
          <p:nvPr>
            <p:ph idx="8" type="subTitle"/>
          </p:nvPr>
        </p:nvSpPr>
        <p:spPr>
          <a:xfrm>
            <a:off x="5877425" y="15281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26" name="Google Shape;226;p17"/>
          <p:cNvSpPr txBox="1"/>
          <p:nvPr>
            <p:ph idx="9" type="subTitle"/>
          </p:nvPr>
        </p:nvSpPr>
        <p:spPr>
          <a:xfrm>
            <a:off x="5877425" y="178110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7" name="Google Shape;227;p17"/>
          <p:cNvSpPr txBox="1"/>
          <p:nvPr>
            <p:ph idx="13" type="subTitle"/>
          </p:nvPr>
        </p:nvSpPr>
        <p:spPr>
          <a:xfrm>
            <a:off x="5877425" y="22191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8" name="Google Shape;228;p17"/>
          <p:cNvSpPr txBox="1"/>
          <p:nvPr>
            <p:ph idx="14" type="subTitle"/>
          </p:nvPr>
        </p:nvSpPr>
        <p:spPr>
          <a:xfrm>
            <a:off x="5877425" y="26572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9" name="Google Shape;229;p17"/>
          <p:cNvSpPr txBox="1"/>
          <p:nvPr>
            <p:ph idx="15" type="subTitle"/>
          </p:nvPr>
        </p:nvSpPr>
        <p:spPr>
          <a:xfrm>
            <a:off x="5877425" y="335493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30" name="Google Shape;230;p17"/>
          <p:cNvSpPr txBox="1"/>
          <p:nvPr>
            <p:ph idx="16"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31" name="Google Shape;231;p17"/>
          <p:cNvSpPr txBox="1"/>
          <p:nvPr>
            <p:ph idx="1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2" name="Google Shape;232;p1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33" name="Google Shape;233;p1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34" name="Shape 234"/>
        <p:cNvGrpSpPr/>
        <p:nvPr/>
      </p:nvGrpSpPr>
      <p:grpSpPr>
        <a:xfrm>
          <a:off x="0" y="0"/>
          <a:ext cx="0" cy="0"/>
          <a:chOff x="0" y="0"/>
          <a:chExt cx="0" cy="0"/>
        </a:xfrm>
      </p:grpSpPr>
      <p:pic>
        <p:nvPicPr>
          <p:cNvPr id="235" name="Google Shape;235;p1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36" name="Google Shape;236;p18"/>
          <p:cNvSpPr txBox="1"/>
          <p:nvPr>
            <p:ph idx="1" type="subTitle"/>
          </p:nvPr>
        </p:nvSpPr>
        <p:spPr>
          <a:xfrm>
            <a:off x="382995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37" name="Google Shape;237;p18"/>
          <p:cNvSpPr txBox="1"/>
          <p:nvPr>
            <p:ph idx="2" type="subTitle"/>
          </p:nvPr>
        </p:nvSpPr>
        <p:spPr>
          <a:xfrm>
            <a:off x="20774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38" name="Google Shape;238;p18"/>
          <p:cNvSpPr txBox="1"/>
          <p:nvPr>
            <p:ph type="title"/>
          </p:nvPr>
        </p:nvSpPr>
        <p:spPr>
          <a:xfrm>
            <a:off x="228600" y="613525"/>
            <a:ext cx="6841500" cy="7530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39" name="Google Shape;239;p18"/>
          <p:cNvSpPr txBox="1"/>
          <p:nvPr>
            <p:ph idx="3" type="subTitle"/>
          </p:nvPr>
        </p:nvSpPr>
        <p:spPr>
          <a:xfrm>
            <a:off x="2775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1000"/>
              <a:buFont typeface="Urbanist"/>
              <a:buNone/>
              <a:defRPr sz="1000">
                <a:solidFill>
                  <a:schemeClr val="lt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0" name="Google Shape;240;p18"/>
          <p:cNvSpPr txBox="1"/>
          <p:nvPr>
            <p:ph idx="4" type="subTitle"/>
          </p:nvPr>
        </p:nvSpPr>
        <p:spPr>
          <a:xfrm>
            <a:off x="38773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41" name="Google Shape;241;p18"/>
          <p:cNvSpPr txBox="1"/>
          <p:nvPr>
            <p:ph idx="5" type="subTitle"/>
          </p:nvPr>
        </p:nvSpPr>
        <p:spPr>
          <a:xfrm>
            <a:off x="56772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2" name="Google Shape;242;p18"/>
          <p:cNvSpPr txBox="1"/>
          <p:nvPr>
            <p:ph idx="6" type="subTitle"/>
          </p:nvPr>
        </p:nvSpPr>
        <p:spPr>
          <a:xfrm>
            <a:off x="74771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3" name="Google Shape;243;p18"/>
          <p:cNvSpPr txBox="1"/>
          <p:nvPr>
            <p:ph idx="7" type="subTitle"/>
          </p:nvPr>
        </p:nvSpPr>
        <p:spPr>
          <a:xfrm>
            <a:off x="23880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4" name="Google Shape;244;p18"/>
          <p:cNvSpPr txBox="1"/>
          <p:nvPr>
            <p:ph idx="8" type="subTitle"/>
          </p:nvPr>
        </p:nvSpPr>
        <p:spPr>
          <a:xfrm>
            <a:off x="2034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5" name="Google Shape;245;p18"/>
          <p:cNvSpPr txBox="1"/>
          <p:nvPr>
            <p:ph idx="9" type="subTitle"/>
          </p:nvPr>
        </p:nvSpPr>
        <p:spPr>
          <a:xfrm>
            <a:off x="5645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6" name="Google Shape;246;p18"/>
          <p:cNvSpPr txBox="1"/>
          <p:nvPr>
            <p:ph idx="13" type="subTitle"/>
          </p:nvPr>
        </p:nvSpPr>
        <p:spPr>
          <a:xfrm>
            <a:off x="7460789"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7" name="Google Shape;247;p18"/>
          <p:cNvSpPr txBox="1"/>
          <p:nvPr>
            <p:ph idx="14" type="subTitle"/>
          </p:nvPr>
        </p:nvSpPr>
        <p:spPr>
          <a:xfrm>
            <a:off x="372900" y="202945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248" name="Google Shape;248;p18"/>
          <p:cNvSpPr txBox="1"/>
          <p:nvPr>
            <p:ph idx="15" type="subTitle"/>
          </p:nvPr>
        </p:nvSpPr>
        <p:spPr>
          <a:xfrm>
            <a:off x="2178663"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49" name="Google Shape;249;p18"/>
          <p:cNvSpPr txBox="1"/>
          <p:nvPr>
            <p:ph idx="16" type="subTitle"/>
          </p:nvPr>
        </p:nvSpPr>
        <p:spPr>
          <a:xfrm>
            <a:off x="3974250"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0" name="Google Shape;250;p18"/>
          <p:cNvSpPr txBox="1"/>
          <p:nvPr>
            <p:ph idx="17" type="subTitle"/>
          </p:nvPr>
        </p:nvSpPr>
        <p:spPr>
          <a:xfrm>
            <a:off x="5789675"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1" name="Google Shape;251;p18"/>
          <p:cNvSpPr txBox="1"/>
          <p:nvPr>
            <p:ph idx="18" type="subTitle"/>
          </p:nvPr>
        </p:nvSpPr>
        <p:spPr>
          <a:xfrm>
            <a:off x="7605089"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2" name="Google Shape;252;p1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18"/>
          <p:cNvSpPr txBox="1"/>
          <p:nvPr>
            <p:ph idx="1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54" name="Google Shape;254;p1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55" name="Google Shape;255;p18"/>
          <p:cNvSpPr txBox="1"/>
          <p:nvPr>
            <p:ph idx="20"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256" name="Shape 256"/>
        <p:cNvGrpSpPr/>
        <p:nvPr/>
      </p:nvGrpSpPr>
      <p:grpSpPr>
        <a:xfrm>
          <a:off x="0" y="0"/>
          <a:ext cx="0" cy="0"/>
          <a:chOff x="0" y="0"/>
          <a:chExt cx="0" cy="0"/>
        </a:xfrm>
      </p:grpSpPr>
      <p:pic>
        <p:nvPicPr>
          <p:cNvPr id="257" name="Google Shape;257;p1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58" name="Google Shape;258;p19"/>
          <p:cNvSpPr txBox="1"/>
          <p:nvPr>
            <p:ph idx="1" type="subTitle"/>
          </p:nvPr>
        </p:nvSpPr>
        <p:spPr>
          <a:xfrm>
            <a:off x="6314800" y="458325"/>
            <a:ext cx="229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9" name="Google Shape;259;p19"/>
          <p:cNvSpPr txBox="1"/>
          <p:nvPr>
            <p:ph type="title"/>
          </p:nvPr>
        </p:nvSpPr>
        <p:spPr>
          <a:xfrm>
            <a:off x="237650" y="746900"/>
            <a:ext cx="2834700" cy="25908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60" name="Google Shape;260;p19"/>
          <p:cNvSpPr txBox="1"/>
          <p:nvPr>
            <p:ph idx="2" type="subTitle"/>
          </p:nvPr>
        </p:nvSpPr>
        <p:spPr>
          <a:xfrm>
            <a:off x="229175" y="229175"/>
            <a:ext cx="283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261" name="Google Shape;261;p19"/>
          <p:cNvSpPr txBox="1"/>
          <p:nvPr>
            <p:ph idx="3" type="subTitle"/>
          </p:nvPr>
        </p:nvSpPr>
        <p:spPr>
          <a:xfrm>
            <a:off x="3437500" y="882725"/>
            <a:ext cx="22947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2" name="Google Shape;262;p19"/>
          <p:cNvSpPr txBox="1"/>
          <p:nvPr>
            <p:ph idx="4" type="subTitle"/>
          </p:nvPr>
        </p:nvSpPr>
        <p:spPr>
          <a:xfrm>
            <a:off x="3611850" y="2707575"/>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3" name="Google Shape;263;p19"/>
          <p:cNvSpPr txBox="1"/>
          <p:nvPr>
            <p:ph idx="5" type="subTitle"/>
          </p:nvPr>
        </p:nvSpPr>
        <p:spPr>
          <a:xfrm>
            <a:off x="3611850" y="4076800"/>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4" name="Google Shape;264;p19"/>
          <p:cNvSpPr txBox="1"/>
          <p:nvPr>
            <p:ph idx="6" type="subTitle"/>
          </p:nvPr>
        </p:nvSpPr>
        <p:spPr>
          <a:xfrm>
            <a:off x="6258900" y="3267725"/>
            <a:ext cx="24783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5" name="Google Shape;265;p19"/>
          <p:cNvSpPr txBox="1"/>
          <p:nvPr>
            <p:ph idx="7" type="subTitle"/>
          </p:nvPr>
        </p:nvSpPr>
        <p:spPr>
          <a:xfrm>
            <a:off x="6258900" y="3955225"/>
            <a:ext cx="24783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4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1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19"/>
          <p:cNvSpPr txBox="1"/>
          <p:nvPr>
            <p:ph idx="8"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68" name="Google Shape;268;p1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69" name="Google Shape;269;p19"/>
          <p:cNvSpPr txBox="1"/>
          <p:nvPr>
            <p:ph idx="9"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0" name="Shape 270"/>
        <p:cNvGrpSpPr/>
        <p:nvPr/>
      </p:nvGrpSpPr>
      <p:grpSpPr>
        <a:xfrm>
          <a:off x="0" y="0"/>
          <a:ext cx="0" cy="0"/>
          <a:chOff x="0" y="0"/>
          <a:chExt cx="0" cy="0"/>
        </a:xfrm>
      </p:grpSpPr>
      <p:pic>
        <p:nvPicPr>
          <p:cNvPr id="271" name="Google Shape;271;p2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2" name="Google Shape;272;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9pPr>
          </a:lstStyle>
          <a:p/>
        </p:txBody>
      </p:sp>
      <p:sp>
        <p:nvSpPr>
          <p:cNvPr id="273" name="Google Shape;273;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9pPr>
          </a:lstStyle>
          <a:p/>
        </p:txBody>
      </p:sp>
      <p:sp>
        <p:nvSpPr>
          <p:cNvPr id="274" name="Google Shape;274;p2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75" name="Google Shape;275;p20"/>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76" name="Google Shape;276;p2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77" name="Google Shape;277;p20"/>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78" name="Shape 278"/>
        <p:cNvGrpSpPr/>
        <p:nvPr/>
      </p:nvGrpSpPr>
      <p:grpSpPr>
        <a:xfrm>
          <a:off x="0" y="0"/>
          <a:ext cx="0" cy="0"/>
          <a:chOff x="0" y="0"/>
          <a:chExt cx="0" cy="0"/>
        </a:xfrm>
      </p:grpSpPr>
      <p:pic>
        <p:nvPicPr>
          <p:cNvPr id="279" name="Google Shape;279;p2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0" name="Google Shape;280;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3600"/>
              <a:buFont typeface="Urbanist Medium"/>
              <a:buChar char="●"/>
              <a:defRPr sz="3600">
                <a:solidFill>
                  <a:schemeClr val="lt1"/>
                </a:solidFill>
                <a:latin typeface="Urbanist Medium"/>
                <a:ea typeface="Urbanist Medium"/>
                <a:cs typeface="Urbanist Medium"/>
                <a:sym typeface="Urbanist Medium"/>
              </a:defRPr>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1" name="Google Shape;281;p21"/>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82" name="Google Shape;282;p2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83" name="Google Shape;283;p21"/>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284" name="Shape 284"/>
        <p:cNvGrpSpPr/>
        <p:nvPr/>
      </p:nvGrpSpPr>
      <p:grpSpPr>
        <a:xfrm>
          <a:off x="0" y="0"/>
          <a:ext cx="0" cy="0"/>
          <a:chOff x="0" y="0"/>
          <a:chExt cx="0" cy="0"/>
        </a:xfrm>
      </p:grpSpPr>
      <p:pic>
        <p:nvPicPr>
          <p:cNvPr id="285" name="Google Shape;285;p2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6" name="Google Shape;286;p2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7" name="Google Shape;287;p2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8" name="Google Shape;288;p2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89" name="Google Shape;289;p22"/>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0" name="Google Shape;290;p2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91" name="Google Shape;291;p22"/>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292" name="Shape 292"/>
        <p:cNvGrpSpPr/>
        <p:nvPr/>
      </p:nvGrpSpPr>
      <p:grpSpPr>
        <a:xfrm>
          <a:off x="0" y="0"/>
          <a:ext cx="0" cy="0"/>
          <a:chOff x="0" y="0"/>
          <a:chExt cx="0" cy="0"/>
        </a:xfrm>
      </p:grpSpPr>
      <p:pic>
        <p:nvPicPr>
          <p:cNvPr id="293" name="Google Shape;293;p2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94" name="Google Shape;294;p23"/>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95" name="Google Shape;295;p23"/>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6" name="Google Shape;296;p23"/>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7" name="Google Shape;297;p2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98" name="Google Shape;298;p23"/>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9" name="Google Shape;299;p2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0" name="Google Shape;300;p23"/>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01" name="Shape 301"/>
        <p:cNvGrpSpPr/>
        <p:nvPr/>
      </p:nvGrpSpPr>
      <p:grpSpPr>
        <a:xfrm>
          <a:off x="0" y="0"/>
          <a:ext cx="0" cy="0"/>
          <a:chOff x="0" y="0"/>
          <a:chExt cx="0" cy="0"/>
        </a:xfrm>
      </p:grpSpPr>
      <p:pic>
        <p:nvPicPr>
          <p:cNvPr id="302" name="Google Shape;302;p2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03" name="Google Shape;303;p2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9pPr>
          </a:lstStyle>
          <a:p/>
        </p:txBody>
      </p:sp>
      <p:sp>
        <p:nvSpPr>
          <p:cNvPr id="304" name="Google Shape;304;p2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5" name="Google Shape;305;p24"/>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06" name="Google Shape;306;p2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7" name="Google Shape;307;p24"/>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8" name="Shape 308"/>
        <p:cNvGrpSpPr/>
        <p:nvPr/>
      </p:nvGrpSpPr>
      <p:grpSpPr>
        <a:xfrm>
          <a:off x="0" y="0"/>
          <a:ext cx="0" cy="0"/>
          <a:chOff x="0" y="0"/>
          <a:chExt cx="0" cy="0"/>
        </a:xfrm>
      </p:grpSpPr>
      <p:pic>
        <p:nvPicPr>
          <p:cNvPr id="309" name="Google Shape;309;p2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0" name="Google Shape;310;p2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9pPr>
          </a:lstStyle>
          <a:p/>
        </p:txBody>
      </p:sp>
      <p:sp>
        <p:nvSpPr>
          <p:cNvPr id="311" name="Google Shape;311;p25"/>
          <p:cNvSpPr txBox="1"/>
          <p:nvPr>
            <p:ph idx="1" type="body"/>
          </p:nvPr>
        </p:nvSpPr>
        <p:spPr>
          <a:xfrm>
            <a:off x="311700" y="1411100"/>
            <a:ext cx="7696200" cy="31578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312" name="Google Shape;312;p2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13" name="Google Shape;313;p25"/>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4" name="Google Shape;314;p2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15" name="Google Shape;315;p25"/>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16" name="Shape 316"/>
        <p:cNvGrpSpPr/>
        <p:nvPr/>
      </p:nvGrpSpPr>
      <p:grpSpPr>
        <a:xfrm>
          <a:off x="0" y="0"/>
          <a:ext cx="0" cy="0"/>
          <a:chOff x="0" y="0"/>
          <a:chExt cx="0" cy="0"/>
        </a:xfrm>
      </p:grpSpPr>
      <p:pic>
        <p:nvPicPr>
          <p:cNvPr id="317" name="Google Shape;317;p2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8" name="Google Shape;318;p2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800"/>
              <a:buFont typeface="Urbanist Medium"/>
              <a:buChar char="●"/>
              <a:defRPr sz="4800">
                <a:solidFill>
                  <a:schemeClr val="lt1"/>
                </a:solidFill>
                <a:latin typeface="Urbanist Medium"/>
                <a:ea typeface="Urbanist Medium"/>
                <a:cs typeface="Urbanist Medium"/>
                <a:sym typeface="Urbanist Medium"/>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319" name="Google Shape;319;p26"/>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2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21" name="Google Shape;321;p2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2" name="Google Shape;322;p26"/>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23" name="Shape 323"/>
        <p:cNvGrpSpPr/>
        <p:nvPr/>
      </p:nvGrpSpPr>
      <p:grpSpPr>
        <a:xfrm>
          <a:off x="0" y="0"/>
          <a:ext cx="0" cy="0"/>
          <a:chOff x="0" y="0"/>
          <a:chExt cx="0" cy="0"/>
        </a:xfrm>
      </p:grpSpPr>
      <p:pic>
        <p:nvPicPr>
          <p:cNvPr id="324" name="Google Shape;324;p2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25" name="Google Shape;325;p2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9pPr>
          </a:lstStyle>
          <a:p/>
        </p:txBody>
      </p:sp>
      <p:sp>
        <p:nvSpPr>
          <p:cNvPr id="326" name="Google Shape;326;p27"/>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9pPr>
          </a:lstStyle>
          <a:p/>
        </p:txBody>
      </p:sp>
      <p:sp>
        <p:nvSpPr>
          <p:cNvPr id="327" name="Google Shape;327;p2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28" name="Google Shape;328;p2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9" name="Google Shape;329;p27"/>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0" name="Google Shape;330;p2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1" name="Google Shape;331;p27"/>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34" name="Google Shape;334;p28"/>
          <p:cNvSpPr txBox="1"/>
          <p:nvPr>
            <p:ph idx="1" type="body"/>
          </p:nvPr>
        </p:nvSpPr>
        <p:spPr>
          <a:xfrm>
            <a:off x="311700" y="3951100"/>
            <a:ext cx="5998800" cy="646800"/>
          </a:xfrm>
          <a:prstGeom prst="rect">
            <a:avLst/>
          </a:prstGeom>
          <a:noFill/>
          <a:ln>
            <a:noFill/>
          </a:ln>
        </p:spPr>
        <p:txBody>
          <a:bodyPr anchorCtr="0" anchor="ctr" bIns="91425" lIns="91425" spcFirstLastPara="1" rIns="91425" wrap="square" tIns="91425">
            <a:noAutofit/>
          </a:bodyPr>
          <a:lstStyle>
            <a:lvl1pPr indent="-228600" lvl="0" marL="457200">
              <a:spcBef>
                <a:spcPts val="0"/>
              </a:spcBef>
              <a:spcAft>
                <a:spcPts val="0"/>
              </a:spcAft>
              <a:buClr>
                <a:schemeClr val="lt1"/>
              </a:buClr>
              <a:buSzPts val="1400"/>
              <a:buNone/>
              <a:defRPr>
                <a:solidFill>
                  <a:schemeClr val="lt1"/>
                </a:solidFill>
              </a:defRPr>
            </a:lvl1pPr>
          </a:lstStyle>
          <a:p/>
        </p:txBody>
      </p:sp>
      <p:sp>
        <p:nvSpPr>
          <p:cNvPr id="335" name="Google Shape;335;p2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28"/>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7" name="Google Shape;337;p2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8" name="Google Shape;338;p28"/>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pic>
        <p:nvPicPr>
          <p:cNvPr id="340" name="Google Shape;340;p2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1" name="Google Shape;341;p29"/>
          <p:cNvSpPr txBox="1"/>
          <p:nvPr>
            <p:ph hasCustomPrompt="1" type="title"/>
          </p:nvPr>
        </p:nvSpPr>
        <p:spPr>
          <a:xfrm>
            <a:off x="311700" y="624000"/>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9pPr>
          </a:lstStyle>
          <a:p>
            <a:r>
              <a:t>xx%</a:t>
            </a:r>
          </a:p>
        </p:txBody>
      </p:sp>
      <p:sp>
        <p:nvSpPr>
          <p:cNvPr id="342" name="Google Shape;342;p29"/>
          <p:cNvSpPr txBox="1"/>
          <p:nvPr>
            <p:ph idx="1" type="body"/>
          </p:nvPr>
        </p:nvSpPr>
        <p:spPr>
          <a:xfrm>
            <a:off x="311700" y="2670100"/>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43" name="Google Shape;343;p2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29"/>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45" name="Google Shape;345;p2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46" name="Google Shape;346;p29"/>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7" name="Shape 347"/>
        <p:cNvGrpSpPr/>
        <p:nvPr/>
      </p:nvGrpSpPr>
      <p:grpSpPr>
        <a:xfrm>
          <a:off x="0" y="0"/>
          <a:ext cx="0" cy="0"/>
          <a:chOff x="0" y="0"/>
          <a:chExt cx="0" cy="0"/>
        </a:xfrm>
      </p:grpSpPr>
      <p:pic>
        <p:nvPicPr>
          <p:cNvPr id="348" name="Google Shape;348;p3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9" name="Google Shape;349;p3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0" name="Shape 350"/>
        <p:cNvGrpSpPr/>
        <p:nvPr/>
      </p:nvGrpSpPr>
      <p:grpSpPr>
        <a:xfrm>
          <a:off x="0" y="0"/>
          <a:ext cx="0" cy="0"/>
          <a:chOff x="0" y="0"/>
          <a:chExt cx="0" cy="0"/>
        </a:xfrm>
      </p:grpSpPr>
      <p:pic>
        <p:nvPicPr>
          <p:cNvPr id="351" name="Google Shape;351;p3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2" name="Google Shape;352;p31"/>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200"/>
              <a:buFont typeface="Urbanist Medium"/>
              <a:buNone/>
              <a:defRPr sz="4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353" name="Google Shape;353;p31"/>
          <p:cNvSpPr txBox="1"/>
          <p:nvPr>
            <p:ph idx="1" type="subTitle"/>
          </p:nvPr>
        </p:nvSpPr>
        <p:spPr>
          <a:xfrm>
            <a:off x="4406650" y="39375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4" name="Google Shape;354;p31"/>
          <p:cNvSpPr txBox="1"/>
          <p:nvPr>
            <p:ph idx="2" type="subTitle"/>
          </p:nvPr>
        </p:nvSpPr>
        <p:spPr>
          <a:xfrm>
            <a:off x="4406650" y="115170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5" name="Google Shape;355;p31"/>
          <p:cNvSpPr txBox="1"/>
          <p:nvPr>
            <p:ph idx="3" type="subTitle"/>
          </p:nvPr>
        </p:nvSpPr>
        <p:spPr>
          <a:xfrm>
            <a:off x="4406650" y="342557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6" name="Google Shape;356;p31"/>
          <p:cNvSpPr txBox="1"/>
          <p:nvPr>
            <p:ph idx="4" type="subTitle"/>
          </p:nvPr>
        </p:nvSpPr>
        <p:spPr>
          <a:xfrm>
            <a:off x="4406650" y="190966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7" name="Google Shape;357;p31"/>
          <p:cNvSpPr txBox="1"/>
          <p:nvPr>
            <p:ph idx="5" type="subTitle"/>
          </p:nvPr>
        </p:nvSpPr>
        <p:spPr>
          <a:xfrm>
            <a:off x="4406650" y="418352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8" name="Google Shape;358;p31"/>
          <p:cNvSpPr txBox="1"/>
          <p:nvPr>
            <p:ph idx="6" type="subTitle"/>
          </p:nvPr>
        </p:nvSpPr>
        <p:spPr>
          <a:xfrm>
            <a:off x="4406650" y="266761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9" name="Google Shape;359;p3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0" name="Google Shape;360;p31"/>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61" name="Google Shape;361;p3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62" name="Google Shape;362;p31"/>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3" name="Shape 363"/>
        <p:cNvGrpSpPr/>
        <p:nvPr/>
      </p:nvGrpSpPr>
      <p:grpSpPr>
        <a:xfrm>
          <a:off x="0" y="0"/>
          <a:ext cx="0" cy="0"/>
          <a:chOff x="0" y="0"/>
          <a:chExt cx="0" cy="0"/>
        </a:xfrm>
      </p:grpSpPr>
      <p:sp>
        <p:nvSpPr>
          <p:cNvPr id="364" name="Google Shape;364;p3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65" name="Google Shape;365;p32"/>
          <p:cNvSpPr txBox="1"/>
          <p:nvPr>
            <p:ph idx="1" type="body"/>
          </p:nvPr>
        </p:nvSpPr>
        <p:spPr>
          <a:xfrm>
            <a:off x="311700" y="1152475"/>
            <a:ext cx="4473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66" name="Google Shape;366;p32"/>
          <p:cNvSpPr/>
          <p:nvPr>
            <p:ph idx="2" type="pic"/>
          </p:nvPr>
        </p:nvSpPr>
        <p:spPr>
          <a:xfrm>
            <a:off x="4992024" y="1152775"/>
            <a:ext cx="3840300" cy="3416400"/>
          </a:xfrm>
          <a:prstGeom prst="rect">
            <a:avLst/>
          </a:prstGeom>
          <a:noFill/>
          <a:ln>
            <a:noFill/>
          </a:ln>
        </p:spPr>
      </p:sp>
      <p:pic>
        <p:nvPicPr>
          <p:cNvPr id="367" name="Google Shape;367;p3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68" name="Google Shape;368;p3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9" name="Google Shape;369;p32"/>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70" name="Google Shape;370;p3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71" name="Google Shape;371;p32"/>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2" name="Shape 372"/>
        <p:cNvGrpSpPr/>
        <p:nvPr/>
      </p:nvGrpSpPr>
      <p:grpSpPr>
        <a:xfrm>
          <a:off x="0" y="0"/>
          <a:ext cx="0" cy="0"/>
          <a:chOff x="0" y="0"/>
          <a:chExt cx="0" cy="0"/>
        </a:xfrm>
      </p:grpSpPr>
      <p:sp>
        <p:nvSpPr>
          <p:cNvPr id="373" name="Google Shape;373;p33"/>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74" name="Google Shape;374;p33"/>
          <p:cNvSpPr txBox="1"/>
          <p:nvPr>
            <p:ph idx="1" type="body"/>
          </p:nvPr>
        </p:nvSpPr>
        <p:spPr>
          <a:xfrm>
            <a:off x="48315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5" name="Google Shape;375;p33"/>
          <p:cNvSpPr txBox="1"/>
          <p:nvPr>
            <p:ph idx="2" type="body"/>
          </p:nvPr>
        </p:nvSpPr>
        <p:spPr>
          <a:xfrm>
            <a:off x="504800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6" name="Google Shape;376;p33"/>
          <p:cNvSpPr txBox="1"/>
          <p:nvPr>
            <p:ph idx="3" type="subTitle"/>
          </p:nvPr>
        </p:nvSpPr>
        <p:spPr>
          <a:xfrm>
            <a:off x="48315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33"/>
          <p:cNvSpPr txBox="1"/>
          <p:nvPr>
            <p:ph idx="4" type="subTitle"/>
          </p:nvPr>
        </p:nvSpPr>
        <p:spPr>
          <a:xfrm>
            <a:off x="504800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3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79" name="Google Shape;379;p33"/>
          <p:cNvSpPr txBox="1"/>
          <p:nvPr>
            <p:ph idx="5"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80" name="Google Shape;380;p33"/>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81" name="Google Shape;381;p33"/>
          <p:cNvSpPr txBox="1"/>
          <p:nvPr>
            <p:ph idx="6"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2" name="Shape 382"/>
        <p:cNvGrpSpPr/>
        <p:nvPr/>
      </p:nvGrpSpPr>
      <p:grpSpPr>
        <a:xfrm>
          <a:off x="0" y="0"/>
          <a:ext cx="0" cy="0"/>
          <a:chOff x="0" y="0"/>
          <a:chExt cx="0" cy="0"/>
        </a:xfrm>
      </p:grpSpPr>
      <p:sp>
        <p:nvSpPr>
          <p:cNvPr id="383" name="Google Shape;383;p34"/>
          <p:cNvSpPr txBox="1"/>
          <p:nvPr>
            <p:ph idx="1" type="body"/>
          </p:nvPr>
        </p:nvSpPr>
        <p:spPr>
          <a:xfrm>
            <a:off x="4831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4" name="Google Shape;384;p34"/>
          <p:cNvSpPr txBox="1"/>
          <p:nvPr>
            <p:ph idx="2" type="body"/>
          </p:nvPr>
        </p:nvSpPr>
        <p:spPr>
          <a:xfrm>
            <a:off x="334772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5" name="Google Shape;385;p34"/>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86" name="Google Shape;386;p34"/>
          <p:cNvSpPr txBox="1"/>
          <p:nvPr>
            <p:ph idx="3" type="subTitle"/>
          </p:nvPr>
        </p:nvSpPr>
        <p:spPr>
          <a:xfrm>
            <a:off x="4831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4" type="subTitle"/>
          </p:nvPr>
        </p:nvSpPr>
        <p:spPr>
          <a:xfrm>
            <a:off x="334772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8" name="Google Shape;388;p34"/>
          <p:cNvSpPr txBox="1"/>
          <p:nvPr>
            <p:ph idx="5" type="subTitle"/>
          </p:nvPr>
        </p:nvSpPr>
        <p:spPr>
          <a:xfrm>
            <a:off x="62122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9" name="Google Shape;389;p34"/>
          <p:cNvSpPr txBox="1"/>
          <p:nvPr>
            <p:ph idx="6" type="body"/>
          </p:nvPr>
        </p:nvSpPr>
        <p:spPr>
          <a:xfrm>
            <a:off x="62122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0" name="Google Shape;390;p3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91" name="Google Shape;391;p34"/>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92" name="Google Shape;392;p34"/>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93" name="Google Shape;393;p34"/>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94" name="Shape 394"/>
        <p:cNvGrpSpPr/>
        <p:nvPr/>
      </p:nvGrpSpPr>
      <p:grpSpPr>
        <a:xfrm>
          <a:off x="0" y="0"/>
          <a:ext cx="0" cy="0"/>
          <a:chOff x="0" y="0"/>
          <a:chExt cx="0" cy="0"/>
        </a:xfrm>
      </p:grpSpPr>
      <p:sp>
        <p:nvSpPr>
          <p:cNvPr id="395" name="Google Shape;395;p35"/>
          <p:cNvSpPr txBox="1"/>
          <p:nvPr>
            <p:ph idx="1" type="body"/>
          </p:nvPr>
        </p:nvSpPr>
        <p:spPr>
          <a:xfrm>
            <a:off x="366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5"/>
          <p:cNvSpPr txBox="1"/>
          <p:nvPr>
            <p:ph idx="2" type="body"/>
          </p:nvPr>
        </p:nvSpPr>
        <p:spPr>
          <a:xfrm>
            <a:off x="4938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5"/>
          <p:cNvSpPr txBox="1"/>
          <p:nvPr>
            <p:ph idx="3" type="body"/>
          </p:nvPr>
        </p:nvSpPr>
        <p:spPr>
          <a:xfrm>
            <a:off x="366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8" name="Google Shape;398;p35"/>
          <p:cNvSpPr txBox="1"/>
          <p:nvPr>
            <p:ph idx="4" type="body"/>
          </p:nvPr>
        </p:nvSpPr>
        <p:spPr>
          <a:xfrm>
            <a:off x="4938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9" name="Google Shape;399;p35"/>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400" name="Google Shape;400;p35"/>
          <p:cNvSpPr txBox="1"/>
          <p:nvPr>
            <p:ph idx="5" type="subTitle"/>
          </p:nvPr>
        </p:nvSpPr>
        <p:spPr>
          <a:xfrm>
            <a:off x="366763"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1" name="Google Shape;401;p35"/>
          <p:cNvSpPr txBox="1"/>
          <p:nvPr>
            <p:ph idx="6" type="subTitle"/>
          </p:nvPr>
        </p:nvSpPr>
        <p:spPr>
          <a:xfrm>
            <a:off x="4938738"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2" name="Google Shape;402;p35"/>
          <p:cNvSpPr txBox="1"/>
          <p:nvPr>
            <p:ph idx="7" type="subTitle"/>
          </p:nvPr>
        </p:nvSpPr>
        <p:spPr>
          <a:xfrm>
            <a:off x="4938761"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3" name="Google Shape;403;p35"/>
          <p:cNvSpPr txBox="1"/>
          <p:nvPr>
            <p:ph idx="8" type="subTitle"/>
          </p:nvPr>
        </p:nvSpPr>
        <p:spPr>
          <a:xfrm>
            <a:off x="366750"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pic>
        <p:nvPicPr>
          <p:cNvPr id="404" name="Google Shape;404;p35" title="0226_OpenHouse_NewYork_cover_2.png"/>
          <p:cNvPicPr preferRelativeResize="0"/>
          <p:nvPr/>
        </p:nvPicPr>
        <p:blipFill rotWithShape="1">
          <a:blip r:embed="rId2">
            <a:alphaModFix/>
          </a:blip>
          <a:srcRect b="0" l="0" r="0" t="0"/>
          <a:stretch/>
        </p:blipFill>
        <p:spPr>
          <a:xfrm>
            <a:off x="0" y="0"/>
            <a:ext cx="9144003" cy="5143501"/>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05" name="Shape 405"/>
        <p:cNvGrpSpPr/>
        <p:nvPr/>
      </p:nvGrpSpPr>
      <p:grpSpPr>
        <a:xfrm>
          <a:off x="0" y="0"/>
          <a:ext cx="0" cy="0"/>
          <a:chOff x="0" y="0"/>
          <a:chExt cx="0" cy="0"/>
        </a:xfrm>
      </p:grpSpPr>
      <p:sp>
        <p:nvSpPr>
          <p:cNvPr id="406" name="Google Shape;406;p36"/>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7" name="Google Shape;407;p36"/>
          <p:cNvSpPr/>
          <p:nvPr>
            <p:ph idx="2" type="pic"/>
          </p:nvPr>
        </p:nvSpPr>
        <p:spPr>
          <a:xfrm>
            <a:off x="311700" y="1170425"/>
            <a:ext cx="8520600" cy="3492900"/>
          </a:xfrm>
          <a:prstGeom prst="rect">
            <a:avLst/>
          </a:prstGeom>
          <a:noFill/>
          <a:ln>
            <a:noFill/>
          </a:ln>
        </p:spPr>
      </p:sp>
      <p:sp>
        <p:nvSpPr>
          <p:cNvPr id="408" name="Google Shape;408;p3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09" name="Google Shape;409;p36"/>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10" name="Google Shape;410;p3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11" name="Shape 411"/>
        <p:cNvGrpSpPr/>
        <p:nvPr/>
      </p:nvGrpSpPr>
      <p:grpSpPr>
        <a:xfrm>
          <a:off x="0" y="0"/>
          <a:ext cx="0" cy="0"/>
          <a:chOff x="0" y="0"/>
          <a:chExt cx="0" cy="0"/>
        </a:xfrm>
      </p:grpSpPr>
      <p:sp>
        <p:nvSpPr>
          <p:cNvPr id="412" name="Google Shape;412;p37"/>
          <p:cNvSpPr txBox="1"/>
          <p:nvPr>
            <p:ph idx="1" type="body"/>
          </p:nvPr>
        </p:nvSpPr>
        <p:spPr>
          <a:xfrm>
            <a:off x="311700"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3" name="Google Shape;413;p37"/>
          <p:cNvSpPr/>
          <p:nvPr>
            <p:ph idx="2" type="pic"/>
          </p:nvPr>
        </p:nvSpPr>
        <p:spPr>
          <a:xfrm>
            <a:off x="4804825" y="1133300"/>
            <a:ext cx="4027500" cy="2392800"/>
          </a:xfrm>
          <a:prstGeom prst="rect">
            <a:avLst/>
          </a:prstGeom>
          <a:noFill/>
          <a:ln>
            <a:noFill/>
          </a:ln>
        </p:spPr>
      </p:sp>
      <p:sp>
        <p:nvSpPr>
          <p:cNvPr id="414" name="Google Shape;414;p37"/>
          <p:cNvSpPr/>
          <p:nvPr>
            <p:ph idx="3" type="pic"/>
          </p:nvPr>
        </p:nvSpPr>
        <p:spPr>
          <a:xfrm>
            <a:off x="311725" y="1133300"/>
            <a:ext cx="4027500" cy="2392800"/>
          </a:xfrm>
          <a:prstGeom prst="rect">
            <a:avLst/>
          </a:prstGeom>
          <a:noFill/>
          <a:ln>
            <a:noFill/>
          </a:ln>
        </p:spPr>
      </p:sp>
      <p:sp>
        <p:nvSpPr>
          <p:cNvPr id="415" name="Google Shape;415;p37"/>
          <p:cNvSpPr txBox="1"/>
          <p:nvPr>
            <p:ph idx="4" type="body"/>
          </p:nvPr>
        </p:nvSpPr>
        <p:spPr>
          <a:xfrm>
            <a:off x="4804825"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6" name="Google Shape;416;p37"/>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17" name="Google Shape;417;p37"/>
          <p:cNvSpPr txBox="1"/>
          <p:nvPr>
            <p:ph idx="5" type="subTitle"/>
          </p:nvPr>
        </p:nvSpPr>
        <p:spPr>
          <a:xfrm>
            <a:off x="3117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7"/>
          <p:cNvSpPr txBox="1"/>
          <p:nvPr>
            <p:ph idx="6" type="subTitle"/>
          </p:nvPr>
        </p:nvSpPr>
        <p:spPr>
          <a:xfrm>
            <a:off x="48048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20" name="Google Shape;420;p3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21" name="Google Shape;421;p37"/>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22" name="Google Shape;422;p37"/>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3" name="Shape 423"/>
        <p:cNvGrpSpPr/>
        <p:nvPr/>
      </p:nvGrpSpPr>
      <p:grpSpPr>
        <a:xfrm>
          <a:off x="0" y="0"/>
          <a:ext cx="0" cy="0"/>
          <a:chOff x="0" y="0"/>
          <a:chExt cx="0" cy="0"/>
        </a:xfrm>
      </p:grpSpPr>
      <p:sp>
        <p:nvSpPr>
          <p:cNvPr id="424" name="Google Shape;424;p38"/>
          <p:cNvSpPr txBox="1"/>
          <p:nvPr>
            <p:ph idx="1" type="body"/>
          </p:nvPr>
        </p:nvSpPr>
        <p:spPr>
          <a:xfrm>
            <a:off x="31170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5" name="Google Shape;425;p38"/>
          <p:cNvSpPr/>
          <p:nvPr>
            <p:ph idx="2" type="pic"/>
          </p:nvPr>
        </p:nvSpPr>
        <p:spPr>
          <a:xfrm>
            <a:off x="6205225" y="1128325"/>
            <a:ext cx="2627100" cy="2273100"/>
          </a:xfrm>
          <a:prstGeom prst="rect">
            <a:avLst/>
          </a:prstGeom>
          <a:noFill/>
          <a:ln>
            <a:noFill/>
          </a:ln>
        </p:spPr>
      </p:sp>
      <p:sp>
        <p:nvSpPr>
          <p:cNvPr id="426" name="Google Shape;426;p38"/>
          <p:cNvSpPr/>
          <p:nvPr>
            <p:ph idx="3" type="pic"/>
          </p:nvPr>
        </p:nvSpPr>
        <p:spPr>
          <a:xfrm>
            <a:off x="311725" y="1128325"/>
            <a:ext cx="2627100" cy="2273100"/>
          </a:xfrm>
          <a:prstGeom prst="rect">
            <a:avLst/>
          </a:prstGeom>
          <a:noFill/>
          <a:ln>
            <a:noFill/>
          </a:ln>
        </p:spPr>
      </p:sp>
      <p:sp>
        <p:nvSpPr>
          <p:cNvPr id="427" name="Google Shape;427;p38"/>
          <p:cNvSpPr txBox="1"/>
          <p:nvPr>
            <p:ph idx="4" type="body"/>
          </p:nvPr>
        </p:nvSpPr>
        <p:spPr>
          <a:xfrm>
            <a:off x="6205225"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8" name="Google Shape;428;p38"/>
          <p:cNvSpPr/>
          <p:nvPr>
            <p:ph idx="5" type="pic"/>
          </p:nvPr>
        </p:nvSpPr>
        <p:spPr>
          <a:xfrm>
            <a:off x="3255250" y="1128325"/>
            <a:ext cx="2627100" cy="2273100"/>
          </a:xfrm>
          <a:prstGeom prst="rect">
            <a:avLst/>
          </a:prstGeom>
          <a:noFill/>
          <a:ln>
            <a:noFill/>
          </a:ln>
        </p:spPr>
      </p:sp>
      <p:sp>
        <p:nvSpPr>
          <p:cNvPr id="429" name="Google Shape;429;p38"/>
          <p:cNvSpPr txBox="1"/>
          <p:nvPr>
            <p:ph idx="6" type="body"/>
          </p:nvPr>
        </p:nvSpPr>
        <p:spPr>
          <a:xfrm>
            <a:off x="325525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30" name="Google Shape;430;p38"/>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31" name="Google Shape;431;p38"/>
          <p:cNvSpPr txBox="1"/>
          <p:nvPr>
            <p:ph idx="7" type="subTitle"/>
          </p:nvPr>
        </p:nvSpPr>
        <p:spPr>
          <a:xfrm>
            <a:off x="3117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2" name="Google Shape;432;p38"/>
          <p:cNvSpPr txBox="1"/>
          <p:nvPr>
            <p:ph idx="8" type="subTitle"/>
          </p:nvPr>
        </p:nvSpPr>
        <p:spPr>
          <a:xfrm>
            <a:off x="62052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3" name="Google Shape;433;p38"/>
          <p:cNvSpPr txBox="1"/>
          <p:nvPr>
            <p:ph idx="9" type="subTitle"/>
          </p:nvPr>
        </p:nvSpPr>
        <p:spPr>
          <a:xfrm>
            <a:off x="3255250"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4" name="Google Shape;434;p3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5" name="Google Shape;435;p38"/>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36" name="Google Shape;436;p38"/>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37" name="Google Shape;437;p38"/>
          <p:cNvSpPr txBox="1"/>
          <p:nvPr>
            <p:ph idx="1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8" name="Shape 438"/>
        <p:cNvGrpSpPr/>
        <p:nvPr/>
      </p:nvGrpSpPr>
      <p:grpSpPr>
        <a:xfrm>
          <a:off x="0" y="0"/>
          <a:ext cx="0" cy="0"/>
          <a:chOff x="0" y="0"/>
          <a:chExt cx="0" cy="0"/>
        </a:xfrm>
      </p:grpSpPr>
      <p:sp>
        <p:nvSpPr>
          <p:cNvPr id="439" name="Google Shape;439;p39"/>
          <p:cNvSpPr/>
          <p:nvPr>
            <p:ph idx="2" type="pic"/>
          </p:nvPr>
        </p:nvSpPr>
        <p:spPr>
          <a:xfrm>
            <a:off x="311700" y="445025"/>
            <a:ext cx="8520600" cy="4218300"/>
          </a:xfrm>
          <a:prstGeom prst="rect">
            <a:avLst/>
          </a:prstGeom>
          <a:noFill/>
          <a:ln>
            <a:noFill/>
          </a:ln>
        </p:spPr>
      </p:sp>
      <p:sp>
        <p:nvSpPr>
          <p:cNvPr id="440" name="Google Shape;440;p39"/>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1" name="Google Shape;441;p39"/>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42" name="Google Shape;442;p3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3" name="Shape 443"/>
        <p:cNvGrpSpPr/>
        <p:nvPr/>
      </p:nvGrpSpPr>
      <p:grpSpPr>
        <a:xfrm>
          <a:off x="0" y="0"/>
          <a:ext cx="0" cy="0"/>
          <a:chOff x="0" y="0"/>
          <a:chExt cx="0" cy="0"/>
        </a:xfrm>
      </p:grpSpPr>
      <p:sp>
        <p:nvSpPr>
          <p:cNvPr id="444" name="Google Shape;444;p40"/>
          <p:cNvSpPr/>
          <p:nvPr>
            <p:ph idx="2" type="pic"/>
          </p:nvPr>
        </p:nvSpPr>
        <p:spPr>
          <a:xfrm>
            <a:off x="3389600" y="118913"/>
            <a:ext cx="1643700" cy="1535100"/>
          </a:xfrm>
          <a:prstGeom prst="rect">
            <a:avLst/>
          </a:prstGeom>
          <a:noFill/>
          <a:ln>
            <a:noFill/>
          </a:ln>
        </p:spPr>
      </p:sp>
      <p:sp>
        <p:nvSpPr>
          <p:cNvPr id="445" name="Google Shape;445;p40"/>
          <p:cNvSpPr/>
          <p:nvPr>
            <p:ph idx="3" type="pic"/>
          </p:nvPr>
        </p:nvSpPr>
        <p:spPr>
          <a:xfrm>
            <a:off x="5195935" y="118913"/>
            <a:ext cx="1643700" cy="1535100"/>
          </a:xfrm>
          <a:prstGeom prst="rect">
            <a:avLst/>
          </a:prstGeom>
          <a:noFill/>
          <a:ln>
            <a:noFill/>
          </a:ln>
        </p:spPr>
      </p:sp>
      <p:sp>
        <p:nvSpPr>
          <p:cNvPr id="446" name="Google Shape;446;p40"/>
          <p:cNvSpPr/>
          <p:nvPr>
            <p:ph idx="4" type="pic"/>
          </p:nvPr>
        </p:nvSpPr>
        <p:spPr>
          <a:xfrm>
            <a:off x="7002270" y="118913"/>
            <a:ext cx="1643700" cy="1535100"/>
          </a:xfrm>
          <a:prstGeom prst="rect">
            <a:avLst/>
          </a:prstGeom>
          <a:noFill/>
          <a:ln>
            <a:noFill/>
          </a:ln>
        </p:spPr>
      </p:sp>
      <p:sp>
        <p:nvSpPr>
          <p:cNvPr id="447" name="Google Shape;447;p40"/>
          <p:cNvSpPr/>
          <p:nvPr>
            <p:ph idx="5" type="pic"/>
          </p:nvPr>
        </p:nvSpPr>
        <p:spPr>
          <a:xfrm>
            <a:off x="3389588" y="1804212"/>
            <a:ext cx="1643700" cy="1535100"/>
          </a:xfrm>
          <a:prstGeom prst="rect">
            <a:avLst/>
          </a:prstGeom>
          <a:noFill/>
          <a:ln>
            <a:noFill/>
          </a:ln>
        </p:spPr>
      </p:sp>
      <p:sp>
        <p:nvSpPr>
          <p:cNvPr id="448" name="Google Shape;448;p40"/>
          <p:cNvSpPr/>
          <p:nvPr>
            <p:ph idx="6" type="pic"/>
          </p:nvPr>
        </p:nvSpPr>
        <p:spPr>
          <a:xfrm>
            <a:off x="5195922" y="1804212"/>
            <a:ext cx="1643700" cy="1535100"/>
          </a:xfrm>
          <a:prstGeom prst="rect">
            <a:avLst/>
          </a:prstGeom>
          <a:noFill/>
          <a:ln>
            <a:noFill/>
          </a:ln>
        </p:spPr>
      </p:sp>
      <p:sp>
        <p:nvSpPr>
          <p:cNvPr id="449" name="Google Shape;449;p40"/>
          <p:cNvSpPr/>
          <p:nvPr>
            <p:ph idx="7" type="pic"/>
          </p:nvPr>
        </p:nvSpPr>
        <p:spPr>
          <a:xfrm>
            <a:off x="7002257" y="1804212"/>
            <a:ext cx="1643700" cy="1535100"/>
          </a:xfrm>
          <a:prstGeom prst="rect">
            <a:avLst/>
          </a:prstGeom>
          <a:noFill/>
          <a:ln>
            <a:noFill/>
          </a:ln>
        </p:spPr>
      </p:sp>
      <p:sp>
        <p:nvSpPr>
          <p:cNvPr id="450" name="Google Shape;450;p40"/>
          <p:cNvSpPr txBox="1"/>
          <p:nvPr>
            <p:ph type="title"/>
          </p:nvPr>
        </p:nvSpPr>
        <p:spPr>
          <a:xfrm>
            <a:off x="351550" y="445025"/>
            <a:ext cx="2596800" cy="1706400"/>
          </a:xfrm>
          <a:prstGeom prst="rect">
            <a:avLst/>
          </a:prstGeom>
          <a:noFill/>
          <a:ln>
            <a:noFill/>
          </a:ln>
        </p:spPr>
        <p:txBody>
          <a:bodyPr anchorCtr="0" anchor="ctr"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51" name="Google Shape;451;p40"/>
          <p:cNvSpPr/>
          <p:nvPr>
            <p:ph idx="8" type="pic"/>
          </p:nvPr>
        </p:nvSpPr>
        <p:spPr>
          <a:xfrm>
            <a:off x="3389588" y="3489487"/>
            <a:ext cx="1643700" cy="1535100"/>
          </a:xfrm>
          <a:prstGeom prst="rect">
            <a:avLst/>
          </a:prstGeom>
          <a:noFill/>
          <a:ln>
            <a:noFill/>
          </a:ln>
        </p:spPr>
      </p:sp>
      <p:sp>
        <p:nvSpPr>
          <p:cNvPr id="452" name="Google Shape;452;p40"/>
          <p:cNvSpPr/>
          <p:nvPr>
            <p:ph idx="9" type="pic"/>
          </p:nvPr>
        </p:nvSpPr>
        <p:spPr>
          <a:xfrm>
            <a:off x="5195922" y="3489487"/>
            <a:ext cx="1643700" cy="1535100"/>
          </a:xfrm>
          <a:prstGeom prst="rect">
            <a:avLst/>
          </a:prstGeom>
          <a:noFill/>
          <a:ln>
            <a:noFill/>
          </a:ln>
        </p:spPr>
      </p:sp>
      <p:sp>
        <p:nvSpPr>
          <p:cNvPr id="453" name="Google Shape;453;p40"/>
          <p:cNvSpPr/>
          <p:nvPr>
            <p:ph idx="13" type="pic"/>
          </p:nvPr>
        </p:nvSpPr>
        <p:spPr>
          <a:xfrm>
            <a:off x="7002257" y="3489487"/>
            <a:ext cx="1643700" cy="1535100"/>
          </a:xfrm>
          <a:prstGeom prst="rect">
            <a:avLst/>
          </a:prstGeom>
          <a:noFill/>
          <a:ln>
            <a:noFill/>
          </a:ln>
        </p:spPr>
      </p:sp>
      <p:sp>
        <p:nvSpPr>
          <p:cNvPr id="454" name="Google Shape;454;p4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6">
    <p:spTree>
      <p:nvGrpSpPr>
        <p:cNvPr id="455" name="Shape 455"/>
        <p:cNvGrpSpPr/>
        <p:nvPr/>
      </p:nvGrpSpPr>
      <p:grpSpPr>
        <a:xfrm>
          <a:off x="0" y="0"/>
          <a:ext cx="0" cy="0"/>
          <a:chOff x="0" y="0"/>
          <a:chExt cx="0" cy="0"/>
        </a:xfrm>
      </p:grpSpPr>
      <p:sp>
        <p:nvSpPr>
          <p:cNvPr id="456" name="Google Shape;456;p4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457" name="Google Shape;457;p4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1">
  <p:cSld name="BLANK_1_1_1_1_1_1_1">
    <p:spTree>
      <p:nvGrpSpPr>
        <p:cNvPr id="458" name="Shape 458"/>
        <p:cNvGrpSpPr/>
        <p:nvPr/>
      </p:nvGrpSpPr>
      <p:grpSpPr>
        <a:xfrm>
          <a:off x="0" y="0"/>
          <a:ext cx="0" cy="0"/>
          <a:chOff x="0" y="0"/>
          <a:chExt cx="0" cy="0"/>
        </a:xfrm>
      </p:grpSpPr>
      <p:pic>
        <p:nvPicPr>
          <p:cNvPr id="459" name="Google Shape;459;p4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60" name="Google Shape;460;p42"/>
          <p:cNvSpPr/>
          <p:nvPr>
            <p:ph idx="2" type="pic"/>
          </p:nvPr>
        </p:nvSpPr>
        <p:spPr>
          <a:xfrm>
            <a:off x="9425" y="-3075"/>
            <a:ext cx="9144000" cy="4641000"/>
          </a:xfrm>
          <a:prstGeom prst="rect">
            <a:avLst/>
          </a:prstGeom>
          <a:noFill/>
          <a:ln>
            <a:noFill/>
          </a:ln>
        </p:spPr>
      </p:sp>
      <p:sp>
        <p:nvSpPr>
          <p:cNvPr id="461" name="Google Shape;461;p42"/>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462" name="Google Shape;462;p42"/>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463" name="Google Shape;463;p42"/>
          <p:cNvSpPr txBox="1"/>
          <p:nvPr>
            <p:ph idx="3" type="subTitle"/>
          </p:nvPr>
        </p:nvSpPr>
        <p:spPr>
          <a:xfrm>
            <a:off x="320625" y="4675975"/>
            <a:ext cx="27000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4" name="Google Shape;464;p42"/>
          <p:cNvSpPr txBox="1"/>
          <p:nvPr>
            <p:ph idx="4" type="subTitle"/>
          </p:nvPr>
        </p:nvSpPr>
        <p:spPr>
          <a:xfrm>
            <a:off x="4716740" y="4675975"/>
            <a:ext cx="22947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5" name="Google Shape;465;p42"/>
          <p:cNvSpPr txBox="1"/>
          <p:nvPr>
            <p:ph idx="5" type="subTitle"/>
          </p:nvPr>
        </p:nvSpPr>
        <p:spPr>
          <a:xfrm>
            <a:off x="6859200" y="4683725"/>
            <a:ext cx="2056500" cy="228600"/>
          </a:xfrm>
          <a:prstGeom prst="rect">
            <a:avLst/>
          </a:prstGeom>
          <a:noFill/>
          <a:ln>
            <a:noFill/>
          </a:ln>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466" name="Google Shape;466;p4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67" name="Google Shape;467;p4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68" name="Google Shape;468;p4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ctr"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plorer.testnet.chain.robinhood.com/tx/0x0023f35941a1490017d220c94b41124f53b044b7416f59ea278208ee500e3b03" TargetMode="External"/><Relationship Id="rId3" Type="http://schemas.openxmlformats.org/officeDocument/2006/relationships/hyperlink" Target="https://explorer.testnet.chain.robinhood.com/tx/0xf98156ad950c82abe4ce3ab0eac3da0ae860d1abd91fdb9eb545aa87e7e2fcc8"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plorer.testnet.chain.robinhood.com/tx/0x0023f35941a1490017d220c94b41124f53b044b7416f59ea278208ee500e3b03"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is This For</a:t>
            </a:r>
            <a:endParaRPr b="1" sz="1316">
              <a:solidFill>
                <a:schemeClr val="lt1"/>
              </a:solidFill>
            </a:endParaRPr>
          </a:p>
          <a:p>
            <a:r>
              <a:rPr sz="900" b="0">
                <a:solidFill>
                  <a:srgbClr val="FFFFFF"/>
                </a:solidFill>
                <a:latin typeface="Urbanist Medium"/>
              </a:rPr>
              <a:t>the operator behind @DeployFinance (7,295 followers), who gave an AI agent $100,000 for 70 days and posted the result, and the follower deciding which agent should hold their Stock Tokens</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What They Do Today</a:t>
            </a:r>
            <a:endParaRPr b="1" sz="1316">
              <a:solidFill>
                <a:schemeClr val="lt1"/>
              </a:solidFill>
            </a:endParaRPr>
          </a:p>
          <a:p>
            <a:r>
              <a:rPr sz="900" b="0">
                <a:solidFill>
                  <a:srgbClr val="FFFFFF"/>
                </a:solidFill>
                <a:latin typeface="Urbanist Medium"/>
              </a:rPr>
              <a:t>post a screenshot. “I don't mind showing my Polymarket PnL.. i do mind showing every single bet” (@Al_Nadim_nabil, 11,178 followers). 0 of 22 viral bot posts gave a wallet to check (@Meta_ZET)</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Wedge</a:t>
            </a:r>
            <a:endParaRPr b="1" sz="1316">
              <a:solidFill>
                <a:schemeClr val="lt1"/>
              </a:solidFill>
            </a:endParaRPr>
          </a:p>
          <a:p>
            <a:r>
              <a:rPr sz="900" b="0">
                <a:solidFill>
                  <a:srgbClr val="FFFFFF"/>
                </a:solidFill>
                <a:latin typeface="Urbanist Medium"/>
              </a:rPr>
              <a:t>stock token bot operators on Robinhood Chain. every trade names the Intel TDX measurement and model hash that made it, the follower's account refuses any other workload, and the strategy text is sealed config whose hash the measured compose pins</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Now</a:t>
            </a:r>
            <a:endParaRPr b="1" sz="1316">
              <a:solidFill>
                <a:schemeClr val="lt1"/>
              </a:solidFill>
            </a:endParaRPr>
          </a:p>
          <a:p>
            <a:r>
              <a:rPr sz="900" b="0">
                <a:solidFill>
                  <a:srgbClr val="FFFFFF"/>
                </a:solidFill>
                <a:latin typeface="Urbanist Medium"/>
              </a:rPr>
              <a:t>150,000+ agentic accounts at Robinhood, which does not audit agents. Stock Tokens became Morpho collateral on Oct 22 (https://x.com/RobinhoodCrypto/status/2113270580472381515). 2,529 TEE workloads already run on Phala</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Alternatives and Gaps</a:t>
            </a:r>
            <a:endParaRPr b="1" sz="1316">
              <a:solidFill>
                <a:schemeClr val="lt1"/>
              </a:solidFill>
            </a:endParaRPr>
          </a:p>
          <a:p>
            <a:r>
              <a:rPr sz="900" b="0">
                <a:solidFill>
                  <a:srgbClr val="FFFFFF"/>
                </a:solidFill>
                <a:latin typeface="Urbanist Medium"/>
              </a:rPr>
              <a:t>ARCANA: 51 agents, but the platform holds the keys and prompts. Hyperliquid: 9,478 vaults, no proof of which code trades. Robinhood Agents: 150,000+ accounts, no audit. Knidos: testnet, proves rules, not the model</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Onchain, Why Arbitrum</a:t>
            </a:r>
            <a:endParaRPr b="1" sz="1316">
              <a:solidFill>
                <a:schemeClr val="lt1"/>
              </a:solidFill>
            </a:endParaRPr>
          </a:p>
          <a:p>
            <a:r>
              <a:rPr sz="900" b="0">
                <a:solidFill>
                  <a:srgbClr val="FFFFFF"/>
                </a:solidFill>
                <a:latin typeface="Urbanist Medium"/>
              </a:rPr>
              <a:t>a Stylus Rust verifier walks Intel's cert chain in one tx (2.37M gas), so anyone can re-check it. Stock Tokens live on Robinhood Chain: a TSLA trade settled for 1 USDG and its receipt names the code on chain</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First 5-10 Users</a:t>
            </a:r>
            <a:endParaRPr b="1" sz="1383">
              <a:solidFill>
                <a:schemeClr val="lt1"/>
              </a:solidFill>
            </a:endParaRPr>
          </a:p>
          <a:p>
            <a:r>
              <a:rPr sz="1050" b="0">
                <a:solidFill>
                  <a:srgbClr val="FFFFFF"/>
                </a:solidFill>
                <a:latin typeface="Urbanist Medium"/>
              </a:rPr>
              <a:t>@Arcana_Arena (40 creators, 51 agents), @HarmonicAgents (2,502), Meridian402 (stock token market maker), @DeployFinance (7,295), @GrowiHF (1,592), @senpi_ai (14,741), @betashop (22,573), @the_nof1 (54,390), @OxSimpleFarmer (28,443), @Agent_Minimum (471). the first five get a dm this weekend with the TSLA receipt</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Ship This Weekend</a:t>
            </a:r>
            <a:endParaRPr b="1" sz="1383">
              <a:solidFill>
                <a:schemeClr val="lt1"/>
              </a:solidFill>
            </a:endParaRPr>
          </a:p>
          <a:p>
            <a:r>
              <a:rPr sz="1050" b="0">
                <a:solidFill>
                  <a:srgbClr val="FFFFFF"/>
                </a:solidFill>
                <a:latin typeface="Urbanist Medium"/>
              </a:rPr>
              <a:t>the measured compose pins the strategy's hash and the decision loop runs inside the enclave; that CVM is admitted on Robinhood Chain testnet (tx 0x5fdc4acb...965c). following leaves exactly one measurement approved. demo: the attested TSLA trade and a different workload refused, both read from the chain</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fxtwitter 2026-10-24 (posts, followers); tx 0x0023f359...3b03, chain 46630; Robinhood newsroom 2026-09-29; Morpho collateral post 2026-10-22, https://x.com/RobinhoodCrypto/status/2113270580472381515; Phala 2025 report; arcana-arena.com block 95,182,673; Hyperliquid stats API 2026-10-24; cast estimate 2,371,819 gas.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01" name="Rectangle 500"/>
          <p:cNvSpPr/>
          <p:nvPr/>
        </p:nvSpPr>
        <p:spPr>
          <a:xfrm>
            <a:off x="365760" y="777240"/>
            <a:ext cx="5943600" cy="1828800"/>
          </a:xfrm>
          <a:prstGeom prst="rect">
            <a:avLst/>
          </a:prstGeom>
          <a:solidFill>
            <a:srgbClr val="000000"/>
          </a:solidFill>
          <a:ln w="3810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502920" y="914400"/>
            <a:ext cx="5669280" cy="1554480"/>
          </a:xfrm>
        </p:spPr>
        <p:txBody>
          <a:bodyPr wrap="square" anchor="ctr" lIns="45720" rIns="45720" tIns="32003" bIns="32003"/>
          <a:lstStyle/>
          <a:p>
            <a:pPr algn="ctr">
              <a:spcBef>
                <a:spcPts val="0"/>
              </a:spcBef>
              <a:spcAft>
                <a:spcPts val="0"/>
              </a:spcAft>
            </a:pPr>
            <a:r>
              <a:rPr sz="8800" b="0">
                <a:solidFill>
                  <a:srgbClr val="D4FF00"/>
                </a:solidFill>
                <a:latin typeface="Urbanist SemiBold"/>
              </a:rPr>
              <a:t>SIGNET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2" name="TextBox 501"/>
          <p:cNvSpPr txBox="1"/>
          <p:nvPr/>
        </p:nvSpPr>
        <p:spPr>
          <a:xfrm>
            <a:off x="365760" y="2788920"/>
            <a:ext cx="6035040" cy="1005840"/>
          </a:xfrm>
          <a:prstGeom prst="rect">
            <a:avLst/>
          </a:prstGeom>
          <a:noFill/>
        </p:spPr>
        <p:txBody>
          <a:bodyPr wrap="square" anchor="t" lIns="45720" rIns="45720" tIns="32003" bIns="32003">
            <a:spAutoFit/>
          </a:bodyPr>
          <a:lstStyle/>
          <a:p>
            <a:pPr algn="l">
              <a:spcBef>
                <a:spcPts val="0"/>
              </a:spcBef>
              <a:spcAft>
                <a:spcPts val="0"/>
              </a:spcAft>
            </a:pPr>
            <a:r>
              <a:rPr sz="2600" b="0">
                <a:solidFill>
                  <a:srgbClr val="FFFFFF"/>
                </a:solidFill>
                <a:latin typeface="Urbanist SemiBold"/>
              </a:rPr>
              <a:t>AI trading agents with a provable record and a private strategy</a:t>
            </a:r>
          </a:p>
        </p:txBody>
      </p:sp>
      <p:sp>
        <p:nvSpPr>
          <p:cNvPr id="503" name="TextBox 502"/>
          <p:cNvSpPr txBox="1"/>
          <p:nvPr/>
        </p:nvSpPr>
        <p:spPr>
          <a:xfrm>
            <a:off x="365760" y="3931920"/>
            <a:ext cx="6217920" cy="365760"/>
          </a:xfrm>
          <a:prstGeom prst="rect">
            <a:avLst/>
          </a:prstGeom>
          <a:noFill/>
        </p:spPr>
        <p:txBody>
          <a:bodyPr wrap="square" anchor="t" lIns="45720" rIns="45720" tIns="32003" bIns="32003">
            <a:spAutoFit/>
          </a:bodyPr>
          <a:lstStyle/>
          <a:p>
            <a:pPr algn="l">
              <a:spcBef>
                <a:spcPts val="0"/>
              </a:spcBef>
              <a:spcAft>
                <a:spcPts val="0"/>
              </a:spcAft>
            </a:pPr>
            <a:r>
              <a:rPr sz="1400" b="0">
                <a:solidFill>
                  <a:srgbClr val="00125F"/>
                </a:solidFill>
                <a:latin typeface="Urbanist SemiBold"/>
              </a:rPr>
              <a:t>On Robinhood Chain  |  Arbitrum Founder House Singapore</a:t>
            </a:r>
          </a:p>
        </p:txBody>
      </p:sp>
      <p:pic>
        <p:nvPicPr>
          <p:cNvPr id="504" name="Picture 503" descr="image.png"/>
          <p:cNvPicPr>
            <a:picLocks noChangeAspect="1"/>
          </p:cNvPicPr>
          <p:nvPr/>
        </p:nvPicPr>
        <p:blipFill>
          <a:blip r:embed="rId2"/>
          <a:stretch>
            <a:fillRect/>
          </a:stretch>
        </p:blipFill>
        <p:spPr>
          <a:xfrm>
            <a:off x="6309360" y="320040"/>
            <a:ext cx="3017520" cy="3017520"/>
          </a:xfrm>
          <a:prstGeom prst="rect">
            <a:avLst/>
          </a:prstGeom>
        </p:spPr>
      </p:pic>
      <p:pic>
        <p:nvPicPr>
          <p:cNvPr id="505" name="Picture 504" descr="image.png"/>
          <p:cNvPicPr>
            <a:picLocks noChangeAspect="1"/>
          </p:cNvPicPr>
          <p:nvPr/>
        </p:nvPicPr>
        <p:blipFill>
          <a:blip r:embed="rId3"/>
          <a:stretch>
            <a:fillRect/>
          </a:stretch>
        </p:blipFill>
        <p:spPr>
          <a:xfrm>
            <a:off x="6400800" y="3246120"/>
            <a:ext cx="2377440" cy="822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0 of 22 viral AI trading bot posts gave a wallet you could check</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023360" cy="2926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ctr">
              <a:spcBef>
                <a:spcPts val="0"/>
              </a:spcBef>
              <a:spcAft>
                <a:spcPts val="400"/>
              </a:spcAft>
            </a:pPr>
            <a:r>
              <a:rPr sz="8000" b="0">
                <a:solidFill>
                  <a:srgbClr val="D4FF00"/>
                </a:solidFill>
                <a:latin typeface="Urbanist SemiBold"/>
              </a:rPr>
              <a:t>0 / 22</a:t>
            </a:r>
          </a:p>
          <a:p>
            <a:pPr algn="ctr">
              <a:spcBef>
                <a:spcPts val="0"/>
              </a:spcBef>
              <a:spcAft>
                <a:spcPts val="0"/>
              </a:spcAft>
            </a:pPr>
            <a:r>
              <a:rPr sz="1500" b="0">
                <a:solidFill>
                  <a:srgbClr val="FFFFFF"/>
                </a:solidFill>
                <a:latin typeface="Urbanist Medium"/>
              </a:rPr>
              <a:t>viral “my AI trading bot made 200x” posts that gave a wallet address to check. @Meta_ZET vetted all 22.</a:t>
            </a:r>
          </a:p>
        </p:txBody>
      </p:sp>
      <p:sp>
        <p:nvSpPr>
          <p:cNvPr id="502" name="Rectangle 501"/>
          <p:cNvSpPr/>
          <p:nvPr/>
        </p:nvSpPr>
        <p:spPr>
          <a:xfrm>
            <a:off x="4480560" y="1280160"/>
            <a:ext cx="4389120" cy="2926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0020" bIns="160020"/>
          <a:lstStyle/>
          <a:p>
            <a:pPr algn="l">
              <a:spcBef>
                <a:spcPts val="0"/>
              </a:spcBef>
              <a:spcAft>
                <a:spcPts val="1000"/>
              </a:spcAft>
            </a:pPr>
            <a:r>
              <a:rPr sz="2400" b="0">
                <a:solidFill>
                  <a:srgbClr val="FFFFFF"/>
                </a:solidFill>
                <a:latin typeface="Urbanist SemiBold"/>
              </a:rPr>
              <a:t>“Until an agent can prove its track record without human intervention, it's just a cool demo.”</a:t>
            </a:r>
          </a:p>
          <a:p>
            <a:pPr algn="l">
              <a:spcBef>
                <a:spcPts val="0"/>
              </a:spcBef>
              <a:spcAft>
                <a:spcPts val="0"/>
              </a:spcAft>
            </a:pPr>
            <a:r>
              <a:rPr sz="1200" b="0">
                <a:solidFill>
                  <a:srgbClr val="D4FF00"/>
                </a:solidFill>
                <a:latin typeface="Urbanist SemiBold"/>
              </a:rPr>
              <a:t>@AndresLeo383120, 522 followers, 2026-07-14</a:t>
            </a:r>
          </a:p>
        </p:txBody>
      </p:sp>
      <p:sp>
        <p:nvSpPr>
          <p:cNvPr id="503" name="TextBox 502"/>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gtm/signals.md rows 1 and 14, both re-read through api.fxtwitter.com on 2026-10-24; text verbatim, follower counts as of that 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Robinhood opened accounts to 150,000+ agents. Nobody can check which code trades.</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4000" b="0">
                <a:solidFill>
                  <a:srgbClr val="D4FF00"/>
                </a:solidFill>
                <a:latin typeface="Urbanist SemiBold"/>
              </a:rPr>
              <a:t>150,000+</a:t>
            </a:r>
          </a:p>
          <a:p>
            <a:pPr algn="l">
              <a:spcBef>
                <a:spcPts val="0"/>
              </a:spcBef>
              <a:spcAft>
                <a:spcPts val="0"/>
              </a:spcAft>
            </a:pPr>
            <a:r>
              <a:rPr sz="1300" b="0">
                <a:solidFill>
                  <a:srgbClr val="FFFFFF"/>
                </a:solidFill>
                <a:latin typeface="Urbanist Medium"/>
              </a:rPr>
              <a:t>customers with agentic trading accounts</a:t>
            </a:r>
          </a:p>
        </p:txBody>
      </p:sp>
      <p:sp>
        <p:nvSpPr>
          <p:cNvPr id="502" name="Rectangle 501"/>
          <p:cNvSpPr/>
          <p:nvPr/>
        </p:nvSpPr>
        <p:spPr>
          <a:xfrm>
            <a:off x="320040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4000" b="0">
                <a:solidFill>
                  <a:srgbClr val="D4FF00"/>
                </a:solidFill>
                <a:latin typeface="Urbanist SemiBold"/>
              </a:rPr>
              <a:t>~30M</a:t>
            </a:r>
          </a:p>
          <a:p>
            <a:pPr algn="l">
              <a:spcBef>
                <a:spcPts val="0"/>
              </a:spcBef>
              <a:spcAft>
                <a:spcPts val="0"/>
              </a:spcAft>
            </a:pPr>
            <a:r>
              <a:rPr sz="1300" b="0">
                <a:solidFill>
                  <a:srgbClr val="FFFFFF"/>
                </a:solidFill>
                <a:latin typeface="Urbanist Medium"/>
              </a:rPr>
              <a:t>agent tool uses a day</a:t>
            </a:r>
          </a:p>
        </p:txBody>
      </p:sp>
      <p:sp>
        <p:nvSpPr>
          <p:cNvPr id="503" name="Rectangle 502"/>
          <p:cNvSpPr/>
          <p:nvPr/>
        </p:nvSpPr>
        <p:spPr>
          <a:xfrm>
            <a:off x="6126480" y="1280160"/>
            <a:ext cx="274320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0"/>
              </a:spcAft>
            </a:pPr>
            <a:r>
              <a:rPr sz="1400" b="0">
                <a:solidFill>
                  <a:srgbClr val="FFFFFF"/>
                </a:solidFill>
                <a:latin typeface="Urbanist SemiBold"/>
              </a:rPr>
              <a:t>“Robinhood does not control, supervise, monitor, recommend, or audit agents.”</a:t>
            </a:r>
          </a:p>
        </p:txBody>
      </p:sp>
      <p:sp>
        <p:nvSpPr>
          <p:cNvPr id="504" name="Rectangle 503"/>
          <p:cNvSpPr/>
          <p:nvPr/>
        </p:nvSpPr>
        <p:spPr>
          <a:xfrm>
            <a:off x="274320" y="2788920"/>
            <a:ext cx="8595360" cy="14630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spcBef>
                <a:spcPts val="0"/>
              </a:spcBef>
              <a:spcAft>
                <a:spcPts val="800"/>
              </a:spcAft>
            </a:pPr>
            <a:r>
              <a:rPr sz="1800" b="0">
                <a:solidFill>
                  <a:srgbClr val="FFFFFF"/>
                </a:solidFill>
                <a:latin typeface="Urbanist SemiBold"/>
              </a:rPr>
              <a:t>The account answers how much an agent can lose. </a:t>
            </a:r>
            <a:r>
              <a:rPr sz="1800" b="0">
                <a:solidFill>
                  <a:srgbClr val="D4FF00"/>
                </a:solidFill>
                <a:latin typeface="Urbanist SemiBold"/>
              </a:rPr>
              <a:t>It does not say which code is trading, or whether that code earned the record.</a:t>
            </a:r>
          </a:p>
          <a:p>
            <a:pPr algn="l">
              <a:spcBef>
                <a:spcPts val="0"/>
              </a:spcBef>
              <a:spcAft>
                <a:spcPts val="0"/>
              </a:spcAft>
            </a:pPr>
            <a:r>
              <a:rPr sz="1400" b="0">
                <a:solidFill>
                  <a:srgbClr val="FFFFFF"/>
                </a:solidFill>
                <a:latin typeface="Urbanist Medium"/>
              </a:rPr>
              <a:t>Copy trading pays for screenshots: “Most copy trading platforms just show a fake leaderboard to get new users.” @Uchi_Yeager18</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Robinhood newsroom, HOOD Summit, 2026-09-29 (150,000+ agentic accounts, ~30M tool uses a day, audit statement); gtm/signals.md row 10, fxtwitter 2026-10-24.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Three steps turn a track record into something you can check</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868680" bIns="115214"/>
          <a:lstStyle/>
          <a:p>
            <a:pPr algn="l">
              <a:spcBef>
                <a:spcPts val="0"/>
              </a:spcBef>
              <a:spcAft>
                <a:spcPts val="800"/>
              </a:spcAft>
            </a:pPr>
            <a:r>
              <a:rPr sz="2000" b="0">
                <a:solidFill>
                  <a:srgbClr val="FFFFFF"/>
                </a:solidFill>
                <a:latin typeface="Urbanist SemiBold"/>
              </a:rPr>
              <a:t>The creator's agent runs in a TEE</a:t>
            </a:r>
          </a:p>
          <a:p>
            <a:pPr algn="l">
              <a:spcBef>
                <a:spcPts val="0"/>
              </a:spcBef>
              <a:spcAft>
                <a:spcPts val="0"/>
              </a:spcAft>
            </a:pPr>
            <a:r>
              <a:rPr sz="1500" b="0">
                <a:solidFill>
                  <a:srgbClr val="FFFFFF"/>
                </a:solidFill>
                <a:latin typeface="Urbanist Medium"/>
              </a:rPr>
              <a:t>An Intel TDX confidential VM. The agent makes its trading key inside it. The strategy text is sealed config, pinned by hash in the measured compose.</a:t>
            </a:r>
          </a:p>
        </p:txBody>
      </p:sp>
      <p:sp>
        <p:nvSpPr>
          <p:cNvPr id="502" name="Oval 501"/>
          <p:cNvSpPr/>
          <p:nvPr/>
        </p:nvSpPr>
        <p:spPr>
          <a:xfrm>
            <a:off x="438912" y="1417320"/>
            <a:ext cx="640080" cy="640080"/>
          </a:xfrm>
          <a:prstGeom prst="ellipse">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0"/>
              </a:spcAft>
            </a:pPr>
            <a:r>
              <a:rPr sz="3000" b="0">
                <a:solidFill>
                  <a:srgbClr val="00125F"/>
                </a:solidFill>
                <a:latin typeface="Urbanist SemiBold"/>
              </a:rPr>
              <a:t>1</a:t>
            </a:r>
          </a:p>
        </p:txBody>
      </p:sp>
      <p:sp>
        <p:nvSpPr>
          <p:cNvPr id="503" name="Rectangle 502"/>
          <p:cNvSpPr/>
          <p:nvPr/>
        </p:nvSpPr>
        <p:spPr>
          <a:xfrm>
            <a:off x="320040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868680" bIns="115214"/>
          <a:lstStyle/>
          <a:p>
            <a:pPr algn="l">
              <a:spcBef>
                <a:spcPts val="0"/>
              </a:spcBef>
              <a:spcAft>
                <a:spcPts val="800"/>
              </a:spcAft>
            </a:pPr>
            <a:r>
              <a:rPr sz="2000" b="0">
                <a:solidFill>
                  <a:srgbClr val="FFFFFF"/>
                </a:solidFill>
                <a:latin typeface="Urbanist SemiBold"/>
              </a:rPr>
              <a:t>Every receipt names the code and the model</a:t>
            </a:r>
          </a:p>
          <a:p>
            <a:pPr algn="l">
              <a:spcBef>
                <a:spcPts val="0"/>
              </a:spcBef>
              <a:spcAft>
                <a:spcPts val="0"/>
              </a:spcAft>
            </a:pPr>
            <a:r>
              <a:rPr sz="1500" b="0">
                <a:solidFill>
                  <a:srgbClr val="FFFFFF"/>
                </a:solidFill>
                <a:latin typeface="Urbanist Medium"/>
              </a:rPr>
              <a:t>TradeExecuted records the TDX measurement and the model hash. Stylus verifiers in Rust check both on chain.</a:t>
            </a:r>
          </a:p>
        </p:txBody>
      </p:sp>
      <p:sp>
        <p:nvSpPr>
          <p:cNvPr id="504" name="Oval 503"/>
          <p:cNvSpPr/>
          <p:nvPr/>
        </p:nvSpPr>
        <p:spPr>
          <a:xfrm>
            <a:off x="3364992" y="1417320"/>
            <a:ext cx="640080" cy="640080"/>
          </a:xfrm>
          <a:prstGeom prst="ellipse">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0"/>
              </a:spcAft>
            </a:pPr>
            <a:r>
              <a:rPr sz="3000" b="0">
                <a:solidFill>
                  <a:srgbClr val="00125F"/>
                </a:solidFill>
                <a:latin typeface="Urbanist SemiBold"/>
              </a:rPr>
              <a:t>2</a:t>
            </a:r>
          </a:p>
        </p:txBody>
      </p:sp>
      <p:sp>
        <p:nvSpPr>
          <p:cNvPr id="505" name="Rectangle 504"/>
          <p:cNvSpPr/>
          <p:nvPr/>
        </p:nvSpPr>
        <p:spPr>
          <a:xfrm>
            <a:off x="612648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868680" bIns="115214"/>
          <a:lstStyle/>
          <a:p>
            <a:pPr algn="l">
              <a:spcBef>
                <a:spcPts val="0"/>
              </a:spcBef>
              <a:spcAft>
                <a:spcPts val="800"/>
              </a:spcAft>
            </a:pPr>
            <a:r>
              <a:rPr sz="2000" b="0">
                <a:solidFill>
                  <a:srgbClr val="FFFFFF"/>
                </a:solidFill>
                <a:latin typeface="Urbanist SemiBold"/>
              </a:rPr>
              <a:t>Followers admit only that code</a:t>
            </a:r>
          </a:p>
          <a:p>
            <a:pPr algn="l">
              <a:spcBef>
                <a:spcPts val="0"/>
              </a:spcBef>
              <a:spcAft>
                <a:spcPts val="0"/>
              </a:spcAft>
            </a:pPr>
            <a:r>
              <a:rPr sz="1500" b="0">
                <a:solidFill>
                  <a:srgbClr val="FFFFFF"/>
                </a:solidFill>
                <a:latin typeface="Urbanist Medium"/>
              </a:rPr>
              <a:t>The follower's account stores the agent key only for a measurement they approved. A different workload is refused.</a:t>
            </a:r>
          </a:p>
        </p:txBody>
      </p:sp>
      <p:sp>
        <p:nvSpPr>
          <p:cNvPr id="506" name="Oval 505"/>
          <p:cNvSpPr/>
          <p:nvPr/>
        </p:nvSpPr>
        <p:spPr>
          <a:xfrm>
            <a:off x="6291072" y="1417320"/>
            <a:ext cx="640080" cy="640080"/>
          </a:xfrm>
          <a:prstGeom prst="ellipse">
            <a:avLst/>
          </a:prstGeom>
          <a:solidFill>
            <a:srgbClr val="D4F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0"/>
              </a:spcAft>
            </a:pPr>
            <a:r>
              <a:rPr sz="3000" b="0">
                <a:solidFill>
                  <a:srgbClr val="00125F"/>
                </a:solidFill>
                <a:latin typeface="Urbanist SemiBold"/>
              </a:rPr>
              <a:t>3</a:t>
            </a:r>
          </a:p>
        </p:txBody>
      </p:sp>
      <p:sp>
        <p:nvSpPr>
          <p:cNvPr id="507" name="TextBox 506"/>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README.md, docs/ENGINEERING.md, contracts/src/AgentAccount.sol. The measurement is Intel TDX's hash of the workload; the account checks it in the transaction that admits the key.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One real trade and one real refusal, both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34440"/>
            <a:ext cx="4206240" cy="22860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200"/>
              </a:spcAft>
            </a:pPr>
            <a:r>
              <a:rPr sz="1300" b="0">
                <a:solidFill>
                  <a:srgbClr val="D4FF00"/>
                </a:solidFill>
                <a:latin typeface="Urbanist SemiBold"/>
              </a:rPr>
              <a:t>ATTESTED TRADE</a:t>
            </a:r>
          </a:p>
          <a:p>
            <a:pPr algn="l">
              <a:spcBef>
                <a:spcPts val="0"/>
              </a:spcBef>
              <a:spcAft>
                <a:spcPts val="500"/>
              </a:spcAft>
            </a:pPr>
            <a:r>
              <a:rPr sz="2200" b="0">
                <a:solidFill>
                  <a:srgbClr val="FFFFFF"/>
                </a:solidFill>
                <a:latin typeface="Urbanist SemiBold"/>
              </a:rPr>
              <a:t>Bought TSLA with 1 USDG</a:t>
            </a:r>
          </a:p>
          <a:p>
            <a:pPr algn="l">
              <a:spcBef>
                <a:spcPts val="0"/>
              </a:spcBef>
              <a:spcAft>
                <a:spcPts val="500"/>
              </a:spcAft>
            </a:pPr>
            <a:r>
              <a:rPr sz="1600" b="0">
                <a:solidFill>
                  <a:srgbClr val="FFFFFF"/>
                </a:solidFill>
                <a:latin typeface="Urbanist Medium"/>
              </a:rPr>
              <a:t>TradeExecuted names the workload measurement 0xeb2d9462… and the model hash 0xc8536dbf…</a:t>
            </a:r>
          </a:p>
          <a:p>
            <a:pPr algn="l">
              <a:spcBef>
                <a:spcPts val="0"/>
              </a:spcBef>
              <a:spcAft>
                <a:spcPts val="500"/>
              </a:spcAft>
            </a:pPr>
            <a:r>
              <a:rPr sz="1600" b="0">
                <a:solidFill>
                  <a:srgbClr val="FFFFFF"/>
                </a:solidFill>
                <a:latin typeface="Urbanist SemiBold"/>
              </a:rPr>
              <a:t>Status success, 504,449 gas</a:t>
            </a:r>
          </a:p>
          <a:p>
            <a:pPr algn="l">
              <a:spcBef>
                <a:spcPts val="0"/>
              </a:spcBef>
              <a:spcAft>
                <a:spcPts val="0"/>
              </a:spcAft>
            </a:pPr>
            <a:r>
              <a:rPr sz="1400" b="0">
                <a:solidFill>
                  <a:srgbClr val="D4FF00"/>
                </a:solidFill>
                <a:latin typeface="Urbanist SemiBold"/>
                <a:hlinkClick r:id="rId2"/>
              </a:rPr>
              <a:t>tx 0x0023f359…3b03, block 127,188,951</a:t>
            </a:r>
          </a:p>
        </p:txBody>
      </p:sp>
      <p:sp>
        <p:nvSpPr>
          <p:cNvPr id="502" name="Rectangle 501"/>
          <p:cNvSpPr/>
          <p:nvPr/>
        </p:nvSpPr>
        <p:spPr>
          <a:xfrm>
            <a:off x="4663440" y="1234440"/>
            <a:ext cx="4206240" cy="22860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200"/>
              </a:spcAft>
            </a:pPr>
            <a:r>
              <a:rPr sz="1300" b="0">
                <a:solidFill>
                  <a:srgbClr val="D4FF00"/>
                </a:solidFill>
                <a:latin typeface="Urbanist SemiBold"/>
              </a:rPr>
              <a:t>REFUSED WORKLOAD</a:t>
            </a:r>
          </a:p>
          <a:p>
            <a:pPr algn="l">
              <a:spcBef>
                <a:spcPts val="0"/>
              </a:spcBef>
              <a:spcAft>
                <a:spcPts val="500"/>
              </a:spcAft>
            </a:pPr>
            <a:r>
              <a:rPr sz="2200" b="0">
                <a:solidFill>
                  <a:srgbClr val="FFFFFF"/>
                </a:solidFill>
                <a:latin typeface="Urbanist SemiBold"/>
              </a:rPr>
              <a:t>A different workload</a:t>
            </a:r>
          </a:p>
          <a:p>
            <a:pPr algn="l">
              <a:spcBef>
                <a:spcPts val="0"/>
              </a:spcBef>
              <a:spcAft>
                <a:spcPts val="500"/>
              </a:spcAft>
            </a:pPr>
            <a:r>
              <a:rPr sz="1600" b="0">
                <a:solidFill>
                  <a:srgbClr val="FFFFFF"/>
                </a:solidFill>
                <a:latin typeface="Urbanist Medium"/>
              </a:rPr>
              <a:t>A genuine Intel quote from other code: registerAgent reverts MeasurementNotApproved</a:t>
            </a:r>
          </a:p>
          <a:p>
            <a:pPr algn="l">
              <a:spcBef>
                <a:spcPts val="0"/>
              </a:spcBef>
              <a:spcAft>
                <a:spcPts val="500"/>
              </a:spcAft>
            </a:pPr>
            <a:r>
              <a:rPr sz="1600" b="0">
                <a:solidFill>
                  <a:srgbClr val="FFFFFF"/>
                </a:solidFill>
                <a:latin typeface="Urbanist SemiBold"/>
              </a:rPr>
              <a:t>Status failed, 2,349,054 gas</a:t>
            </a:r>
          </a:p>
          <a:p>
            <a:pPr algn="l">
              <a:spcBef>
                <a:spcPts val="0"/>
              </a:spcBef>
              <a:spcAft>
                <a:spcPts val="0"/>
              </a:spcAft>
            </a:pPr>
            <a:r>
              <a:rPr sz="1400" b="0">
                <a:solidFill>
                  <a:srgbClr val="D4FF00"/>
                </a:solidFill>
                <a:latin typeface="Urbanist SemiBold"/>
                <a:hlinkClick r:id="rId3"/>
              </a:rPr>
              <a:t>tx 0xf98156ad…fcc8, block 127,632,496</a:t>
            </a:r>
          </a:p>
        </p:txBody>
      </p:sp>
      <p:sp>
        <p:nvSpPr>
          <p:cNvPr id="503" name="Rectangle 502"/>
          <p:cNvSpPr/>
          <p:nvPr/>
        </p:nvSpPr>
        <p:spPr>
          <a:xfrm>
            <a:off x="274320" y="3611880"/>
            <a:ext cx="8595360" cy="658368"/>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0"/>
              </a:spcAft>
            </a:pPr>
            <a:r>
              <a:rPr sz="1400" b="0">
                <a:solidFill>
                  <a:srgbClr val="D4FF00"/>
                </a:solidFill>
                <a:latin typeface="Urbanist SemiBold"/>
              </a:rPr>
              <a:t>What you see: </a:t>
            </a:r>
            <a:r>
              <a:rPr sz="1400" b="0">
                <a:solidFill>
                  <a:srgbClr val="FFFFFF"/>
                </a:solidFill>
                <a:latin typeface="Urbanist Medium"/>
              </a:rPr>
              <a:t>open each link on the explorer. The trade's Logs tab shows the measurement and model hash. The refusal shows status failed. The app leaderboard lists each strategy by compose hash, with every boot's measurement beside it.</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cast receipt on chain 46630 (rpc.testnet.chain.robinhood.com), 2026-10-24: trade status 1, gas 504,449; refusal status 0, gas 2,349,054. Explorer: explorer.testnet.chain.robinhood.com.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Private strategy, public proof</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Sealed</a:t>
            </a:r>
          </a:p>
          <a:p>
            <a:pPr algn="l">
              <a:spcBef>
                <a:spcPts val="0"/>
              </a:spcBef>
              <a:spcAft>
                <a:spcPts val="600"/>
              </a:spcAft>
            </a:pPr>
            <a:r>
              <a:rPr sz="1700" b="0">
                <a:solidFill>
                  <a:srgbClr val="FFFFFF"/>
                </a:solidFill>
                <a:latin typeface="Urbanist SemiBold"/>
              </a:rPr>
              <a:t>Strategy hash in the measurement</a:t>
            </a:r>
          </a:p>
          <a:p>
            <a:pPr algn="l">
              <a:spcBef>
                <a:spcPts val="0"/>
              </a:spcBef>
              <a:spcAft>
                <a:spcPts val="0"/>
              </a:spcAft>
            </a:pPr>
            <a:r>
              <a:rPr sz="1400" b="0">
                <a:solidFill>
                  <a:srgbClr val="FFFFFF"/>
                </a:solidFill>
                <a:latin typeface="Urbanist Medium"/>
              </a:rPr>
              <a:t>The measured compose commits to the strategy's hash and the CVM boots only on a match. The strategy text is sealed config. A CVM with the hash pinned is admitted on 46630.</a:t>
            </a:r>
          </a:p>
        </p:txBody>
      </p:sp>
      <p:sp>
        <p:nvSpPr>
          <p:cNvPr id="502" name="Rectangle 501"/>
          <p:cNvSpPr/>
          <p:nvPr/>
        </p:nvSpPr>
        <p:spPr>
          <a:xfrm>
            <a:off x="320040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2.37M gas</a:t>
            </a:r>
          </a:p>
          <a:p>
            <a:pPr algn="l">
              <a:spcBef>
                <a:spcPts val="0"/>
              </a:spcBef>
              <a:spcAft>
                <a:spcPts val="600"/>
              </a:spcAft>
            </a:pPr>
            <a:r>
              <a:rPr sz="1700" b="0">
                <a:solidFill>
                  <a:srgbClr val="FFFFFF"/>
                </a:solidFill>
                <a:latin typeface="Urbanist SemiBold"/>
              </a:rPr>
              <a:t>Intel's cert chain in one transaction</a:t>
            </a:r>
          </a:p>
          <a:p>
            <a:pPr algn="l">
              <a:spcBef>
                <a:spcPts val="0"/>
              </a:spcBef>
              <a:spcAft>
                <a:spcPts val="0"/>
              </a:spcAft>
            </a:pPr>
            <a:r>
              <a:rPr sz="1400" b="0">
                <a:solidFill>
                  <a:srgbClr val="FFFFFF"/>
                </a:solidFill>
                <a:latin typeface="Urbanist Medium"/>
              </a:rPr>
              <a:t>A Stylus verifier in Rust walks the Intel certificate chain on chain, in the transaction that admits the key.</a:t>
            </a:r>
          </a:p>
        </p:txBody>
      </p:sp>
      <p:sp>
        <p:nvSpPr>
          <p:cNvPr id="503" name="Rectangle 502"/>
          <p:cNvSpPr/>
          <p:nvPr/>
        </p:nvSpPr>
        <p:spPr>
          <a:xfrm>
            <a:off x="612648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43 of 43</a:t>
            </a:r>
          </a:p>
          <a:p>
            <a:pPr algn="l">
              <a:spcBef>
                <a:spcPts val="0"/>
              </a:spcBef>
              <a:spcAft>
                <a:spcPts val="600"/>
              </a:spcAft>
            </a:pPr>
            <a:r>
              <a:rPr sz="1700" b="0">
                <a:solidFill>
                  <a:srgbClr val="FFFFFF"/>
                </a:solidFill>
                <a:latin typeface="Urbanist SemiBold"/>
              </a:rPr>
              <a:t>TCB and QE identity checks</a:t>
            </a:r>
          </a:p>
          <a:p>
            <a:pPr algn="l">
              <a:spcBef>
                <a:spcPts val="0"/>
              </a:spcBef>
              <a:spcAft>
                <a:spcPts val="0"/>
              </a:spcAft>
            </a:pPr>
            <a:r>
              <a:rPr sz="1400" b="0">
                <a:solidFill>
                  <a:srgbClr val="FFFFFF"/>
                </a:solidFill>
                <a:latin typeface="Urbanist Medium"/>
              </a:rPr>
              <a:t>The Stylus verifier crate checks Intel's signed TCB Info, QE Identity and revocation lists, and a revoked platform never passes. 45 tests, 43 of 43 guard mutants killed.</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2,371,819 gas by cast estimate on chain 46630 (docs/ENGINEERING.md); verifier/MUTATIONS.md; strategy commitment: agent/src/strategy.ts, agent-cvm/deployments/2026-10-24.json, registerAgent tx 0x5fdc4acb...965c.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351 tests and 122 killed mutants guard the follower's account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351</a:t>
            </a:r>
          </a:p>
          <a:p>
            <a:pPr algn="l">
              <a:spcBef>
                <a:spcPts val="0"/>
              </a:spcBef>
              <a:spcAft>
                <a:spcPts val="0"/>
              </a:spcAft>
            </a:pPr>
            <a:r>
              <a:rPr sz="1200" b="0">
                <a:solidFill>
                  <a:srgbClr val="FFFFFF"/>
                </a:solidFill>
                <a:latin typeface="Urbanist Medium"/>
              </a:rPr>
              <a:t>forge tests, 25 suites</a:t>
            </a:r>
          </a:p>
        </p:txBody>
      </p:sp>
      <p:sp>
        <p:nvSpPr>
          <p:cNvPr id="502" name="Rectangle 501"/>
          <p:cNvSpPr/>
          <p:nvPr/>
        </p:nvSpPr>
        <p:spPr>
          <a:xfrm>
            <a:off x="2450591"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122 / 123</a:t>
            </a:r>
          </a:p>
          <a:p>
            <a:pPr algn="l">
              <a:spcBef>
                <a:spcPts val="0"/>
              </a:spcBef>
              <a:spcAft>
                <a:spcPts val="0"/>
              </a:spcAft>
            </a:pPr>
            <a:r>
              <a:rPr sz="1200" b="0">
                <a:solidFill>
                  <a:srgbClr val="FFFFFF"/>
                </a:solidFill>
                <a:latin typeface="Urbanist Medium"/>
              </a:rPr>
              <a:t>AgentAccount guard mutants killed</a:t>
            </a:r>
          </a:p>
        </p:txBody>
      </p:sp>
      <p:sp>
        <p:nvSpPr>
          <p:cNvPr id="503" name="Rectangle 502"/>
          <p:cNvSpPr/>
          <p:nvPr/>
        </p:nvSpPr>
        <p:spPr>
          <a:xfrm>
            <a:off x="4626864"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31 / 31</a:t>
            </a:r>
          </a:p>
          <a:p>
            <a:pPr algn="l">
              <a:spcBef>
                <a:spcPts val="0"/>
              </a:spcBef>
              <a:spcAft>
                <a:spcPts val="0"/>
              </a:spcAft>
            </a:pPr>
            <a:r>
              <a:rPr sz="1200" b="0">
                <a:solidFill>
                  <a:srgbClr val="FFFFFF"/>
                </a:solidFill>
                <a:latin typeface="Urbanist Medium"/>
              </a:rPr>
              <a:t>ChironGate guards killed</a:t>
            </a:r>
          </a:p>
        </p:txBody>
      </p:sp>
      <p:sp>
        <p:nvSpPr>
          <p:cNvPr id="504" name="Rectangle 503"/>
          <p:cNvSpPr/>
          <p:nvPr/>
        </p:nvSpPr>
        <p:spPr>
          <a:xfrm>
            <a:off x="6803136"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85</a:t>
            </a:r>
          </a:p>
          <a:p>
            <a:pPr algn="l">
              <a:spcBef>
                <a:spcPts val="0"/>
              </a:spcBef>
              <a:spcAft>
                <a:spcPts val="0"/>
              </a:spcAft>
            </a:pPr>
            <a:r>
              <a:rPr sz="1200" b="0">
                <a:solidFill>
                  <a:srgbClr val="FFFFFF"/>
                </a:solidFill>
                <a:latin typeface="Urbanist Medium"/>
              </a:rPr>
              <a:t>Rust tests across both verifiers</a:t>
            </a:r>
          </a:p>
        </p:txBody>
      </p:sp>
      <p:sp>
        <p:nvSpPr>
          <p:cNvPr id="505" name="Rectangle 504"/>
          <p:cNvSpPr/>
          <p:nvPr/>
        </p:nvSpPr>
        <p:spPr>
          <a:xfrm>
            <a:off x="27432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ROLES</a:t>
            </a:r>
          </a:p>
          <a:p>
            <a:pPr algn="l">
              <a:spcBef>
                <a:spcPts val="0"/>
              </a:spcBef>
              <a:spcAft>
                <a:spcPts val="300"/>
              </a:spcAft>
            </a:pPr>
            <a:r>
              <a:rPr sz="1300" b="0">
                <a:solidFill>
                  <a:srgbClr val="FFFFFF"/>
                </a:solidFill>
                <a:latin typeface="Urbanist SemiBold"/>
              </a:rPr>
              <a:t>Owner (follower): </a:t>
            </a:r>
            <a:r>
              <a:rPr sz="1300" b="0">
                <a:solidFill>
                  <a:srgbClr val="FFFFFF"/>
                </a:solidFill>
                <a:latin typeface="Urbanist Medium"/>
              </a:rPr>
              <a:t>approves a measurement, sets caps, pools and the model pin, pauses, revokes, withdraws. Two-step ownership.</a:t>
            </a:r>
          </a:p>
          <a:p>
            <a:pPr algn="l">
              <a:spcBef>
                <a:spcPts val="0"/>
              </a:spcBef>
              <a:spcAft>
                <a:spcPts val="300"/>
              </a:spcAft>
            </a:pPr>
            <a:r>
              <a:rPr sz="1300" b="0">
                <a:solidFill>
                  <a:srgbClr val="FFFFFF"/>
                </a:solidFill>
                <a:latin typeface="Urbanist SemiBold"/>
              </a:rPr>
              <a:t>Agent key: </a:t>
            </a:r>
            <a:r>
              <a:rPr sz="1300" b="0">
                <a:solidFill>
                  <a:srgbClr val="FFFFFF"/>
                </a:solidFill>
                <a:latin typeface="Urbanist Medium"/>
              </a:rPr>
              <a:t>calls execute with a receipt. Can never become owner.</a:t>
            </a:r>
          </a:p>
          <a:p>
            <a:pPr algn="l">
              <a:spcBef>
                <a:spcPts val="0"/>
              </a:spcBef>
              <a:spcAft>
                <a:spcPts val="0"/>
              </a:spcAft>
            </a:pPr>
            <a:r>
              <a:rPr sz="1300" b="0">
                <a:solidFill>
                  <a:srgbClr val="FFFFFF"/>
                </a:solidFill>
                <a:latin typeface="Urbanist SemiBold"/>
              </a:rPr>
              <a:t>Stylus verifiers: </a:t>
            </a:r>
            <a:r>
              <a:rPr sz="1300" b="0">
                <a:solidFill>
                  <a:srgbClr val="FFFFFF"/>
                </a:solidFill>
                <a:latin typeface="Urbanist Medium"/>
              </a:rPr>
              <a:t>admit the key, check the receipt.</a:t>
            </a:r>
          </a:p>
        </p:txBody>
      </p:sp>
      <p:sp>
        <p:nvSpPr>
          <p:cNvPr id="506" name="Rectangle 505"/>
          <p:cNvSpPr/>
          <p:nvPr/>
        </p:nvSpPr>
        <p:spPr>
          <a:xfrm>
            <a:off x="466344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GUARDS ENFORCED IN THE SWAP</a:t>
            </a:r>
          </a:p>
          <a:p>
            <a:pPr algn="l">
              <a:spcBef>
                <a:spcPts val="0"/>
              </a:spcBef>
              <a:spcAft>
                <a:spcPts val="300"/>
              </a:spcAft>
            </a:pPr>
            <a:r>
              <a:rPr sz="1300" b="0">
                <a:solidFill>
                  <a:srgbClr val="FFFFFF"/>
                </a:solidFill>
                <a:latin typeface="Urbanist Medium"/>
              </a:rPr>
              <a:t>Per-trade cap, rolling 24-hour cap, owner approval above a threshold</a:t>
            </a:r>
          </a:p>
          <a:p>
            <a:pPr algn="l">
              <a:spcBef>
                <a:spcPts val="0"/>
              </a:spcBef>
              <a:spcAft>
                <a:spcPts val="300"/>
              </a:spcAft>
            </a:pPr>
            <a:r>
              <a:rPr sz="1300" b="0">
                <a:solidFill>
                  <a:srgbClr val="FFFFFF"/>
                </a:solidFill>
                <a:latin typeface="Urbanist Medium"/>
              </a:rPr>
              <a:t>Canonical Uniswap v4 pools only, settled by balance delta</a:t>
            </a:r>
          </a:p>
          <a:p>
            <a:pPr algn="l">
              <a:spcBef>
                <a:spcPts val="0"/>
              </a:spcBef>
              <a:spcAft>
                <a:spcPts val="0"/>
              </a:spcAft>
            </a:pPr>
            <a:r>
              <a:rPr sz="1300" b="0">
                <a:solidFill>
                  <a:srgbClr val="FFFFFF"/>
                </a:solidFill>
                <a:latin typeface="Urbanist Medium"/>
              </a:rPr>
              <a:t>ERC-8056 corporate-action guard; unapprove revokes in the same transaction</a:t>
            </a:r>
          </a:p>
        </p:txBody>
      </p:sp>
      <p:sp>
        <p:nvSpPr>
          <p:cNvPr id="507" name="TextBox 506"/>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forge test -j 1 on the integrated tree: 351 passed, 0 failed, 25 suites (docs/test-logs/forge-test-signet-2026-10-24.log). cargo test --release: verifier 67, receipt-verifier 18. docs/SECURITY.md, docs/security/agent-account-mutations.md.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Five named creators already publish returns and keep the strategy sealed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02336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400"/>
              </a:spcAft>
            </a:pPr>
            <a:r>
              <a:rPr sz="1500" b="0">
                <a:solidFill>
                  <a:srgbClr val="FFFFFF"/>
                </a:solidFill>
                <a:latin typeface="Urbanist SemiBold"/>
              </a:rPr>
              <a:t>“If someone shows you a PnL, but not the thinking behind it, where's the credibility?”</a:t>
            </a:r>
          </a:p>
          <a:p>
            <a:pPr algn="l">
              <a:spcBef>
                <a:spcPts val="0"/>
              </a:spcBef>
              <a:spcAft>
                <a:spcPts val="0"/>
              </a:spcAft>
            </a:pPr>
            <a:r>
              <a:rPr sz="1100" b="0">
                <a:solidFill>
                  <a:srgbClr val="D4FF00"/>
                </a:solidFill>
                <a:latin typeface="Urbanist SemiBold"/>
              </a:rPr>
              <a:t>@KillaXBT, 239,232 followers, 2025-12-08</a:t>
            </a:r>
          </a:p>
        </p:txBody>
      </p:sp>
      <p:sp>
        <p:nvSpPr>
          <p:cNvPr id="502" name="Rectangle 501"/>
          <p:cNvSpPr/>
          <p:nvPr/>
        </p:nvSpPr>
        <p:spPr>
          <a:xfrm>
            <a:off x="274320" y="2788920"/>
            <a:ext cx="4023360" cy="14630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400"/>
              </a:spcAft>
            </a:pPr>
            <a:r>
              <a:rPr sz="1400" b="0">
                <a:solidFill>
                  <a:srgbClr val="FFFFFF"/>
                </a:solidFill>
                <a:latin typeface="Urbanist SemiBold"/>
              </a:rPr>
              <a:t>“Track records are easy to verify onchain. The hard part is proving the agent didn't just overfit its model to last month's volatility.”</a:t>
            </a:r>
          </a:p>
          <a:p>
            <a:pPr algn="l">
              <a:spcBef>
                <a:spcPts val="0"/>
              </a:spcBef>
              <a:spcAft>
                <a:spcPts val="0"/>
              </a:spcAft>
            </a:pPr>
            <a:r>
              <a:rPr sz="1100" b="0">
                <a:solidFill>
                  <a:srgbClr val="D4FF00"/>
                </a:solidFill>
                <a:latin typeface="Urbanist SemiBold"/>
              </a:rPr>
              <a:t>@CoderJunkie, 13,373 followers, 2026-10-22</a:t>
            </a:r>
          </a:p>
        </p:txBody>
      </p:sp>
      <p:sp>
        <p:nvSpPr>
          <p:cNvPr id="503" name="Rectangle 502"/>
          <p:cNvSpPr/>
          <p:nvPr/>
        </p:nvSpPr>
        <p:spPr>
          <a:xfrm>
            <a:off x="4480560" y="1280160"/>
            <a:ext cx="438912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400"/>
              </a:spcAft>
            </a:pPr>
            <a:r>
              <a:rPr sz="1300" b="0">
                <a:solidFill>
                  <a:srgbClr val="D4FF00"/>
                </a:solidFill>
                <a:latin typeface="Urbanist SemiBold"/>
              </a:rPr>
              <a:t>FIRST CREATORS</a:t>
            </a:r>
          </a:p>
          <a:p>
            <a:pPr algn="l">
              <a:spcBef>
                <a:spcPts val="0"/>
              </a:spcBef>
              <a:spcAft>
                <a:spcPts val="0"/>
              </a:spcAft>
            </a:pPr>
            <a:r>
              <a:rPr sz="1400" b="0">
                <a:solidFill>
                  <a:srgbClr val="D4FF00"/>
                </a:solidFill>
                <a:latin typeface="Urbanist SemiBold"/>
              </a:rPr>
              <a:t>@DeployFinance</a:t>
            </a:r>
            <a:r>
              <a:rPr sz="1200" b="0">
                <a:solidFill>
                  <a:srgbClr val="FFFFFF"/>
                </a:solidFill>
                <a:latin typeface="Urbanist SemiBold"/>
              </a:rPr>
              <a:t>  7,295</a:t>
            </a:r>
          </a:p>
          <a:p>
            <a:pPr algn="l">
              <a:spcBef>
                <a:spcPts val="0"/>
              </a:spcBef>
              <a:spcAft>
                <a:spcPts val="500"/>
              </a:spcAft>
            </a:pPr>
            <a:r>
              <a:rPr sz="1300" b="0">
                <a:solidFill>
                  <a:srgbClr val="FFFFFF"/>
                </a:solidFill>
                <a:latin typeface="Urbanist Medium"/>
              </a:rPr>
              <a:t>$100,000 agent wallet, 70 days</a:t>
            </a:r>
          </a:p>
          <a:p>
            <a:pPr algn="l">
              <a:spcBef>
                <a:spcPts val="0"/>
              </a:spcBef>
              <a:spcAft>
                <a:spcPts val="0"/>
              </a:spcAft>
            </a:pPr>
            <a:r>
              <a:rPr sz="1400" b="0">
                <a:solidFill>
                  <a:srgbClr val="D4FF00"/>
                </a:solidFill>
                <a:latin typeface="Urbanist SemiBold"/>
              </a:rPr>
              <a:t>@GrowiHF</a:t>
            </a:r>
            <a:r>
              <a:rPr sz="1200" b="0">
                <a:solidFill>
                  <a:srgbClr val="FFFFFF"/>
                </a:solidFill>
                <a:latin typeface="Urbanist SemiBold"/>
              </a:rPr>
              <a:t>  1,592</a:t>
            </a:r>
          </a:p>
          <a:p>
            <a:pPr algn="l">
              <a:spcBef>
                <a:spcPts val="0"/>
              </a:spcBef>
              <a:spcAft>
                <a:spcPts val="500"/>
              </a:spcAft>
            </a:pPr>
            <a:r>
              <a:rPr sz="1300" b="0">
                <a:solidFill>
                  <a:srgbClr val="FFFFFF"/>
                </a:solidFill>
                <a:latin typeface="Urbanist Medium"/>
              </a:rPr>
              <a:t>vault at +$2.94M all-time PnL, strategy undisclosed</a:t>
            </a:r>
          </a:p>
          <a:p>
            <a:pPr algn="l">
              <a:spcBef>
                <a:spcPts val="0"/>
              </a:spcBef>
              <a:spcAft>
                <a:spcPts val="0"/>
              </a:spcAft>
            </a:pPr>
            <a:r>
              <a:rPr sz="1400" b="0">
                <a:solidFill>
                  <a:srgbClr val="D4FF00"/>
                </a:solidFill>
                <a:latin typeface="Urbanist SemiBold"/>
              </a:rPr>
              <a:t>@Arcana_Arena</a:t>
            </a:r>
            <a:r>
              <a:rPr sz="1200" b="0">
                <a:solidFill>
                  <a:srgbClr val="FFFFFF"/>
                </a:solidFill>
                <a:latin typeface="Urbanist SemiBold"/>
              </a:rPr>
              <a:t>  236</a:t>
            </a:r>
          </a:p>
          <a:p>
            <a:pPr algn="l">
              <a:spcBef>
                <a:spcPts val="0"/>
              </a:spcBef>
              <a:spcAft>
                <a:spcPts val="500"/>
              </a:spcAft>
            </a:pPr>
            <a:r>
              <a:rPr sz="1300" b="0">
                <a:solidFill>
                  <a:srgbClr val="FFFFFF"/>
                </a:solidFill>
                <a:latin typeface="Urbanist Medium"/>
              </a:rPr>
              <a:t>40 creators, 51 agents on Robinhood Chain</a:t>
            </a:r>
          </a:p>
          <a:p>
            <a:pPr algn="l">
              <a:spcBef>
                <a:spcPts val="0"/>
              </a:spcBef>
              <a:spcAft>
                <a:spcPts val="0"/>
              </a:spcAft>
            </a:pPr>
            <a:r>
              <a:rPr sz="1400" b="0">
                <a:solidFill>
                  <a:srgbClr val="D4FF00"/>
                </a:solidFill>
                <a:latin typeface="Urbanist SemiBold"/>
              </a:rPr>
              <a:t>@HarmonicAgents</a:t>
            </a:r>
            <a:r>
              <a:rPr sz="1200" b="0">
                <a:solidFill>
                  <a:srgbClr val="FFFFFF"/>
                </a:solidFill>
                <a:latin typeface="Urbanist SemiBold"/>
              </a:rPr>
              <a:t>  2,502</a:t>
            </a:r>
          </a:p>
          <a:p>
            <a:pPr algn="l">
              <a:spcBef>
                <a:spcPts val="0"/>
              </a:spcBef>
              <a:spcAft>
                <a:spcPts val="500"/>
              </a:spcAft>
            </a:pPr>
            <a:r>
              <a:rPr sz="1300" b="0">
                <a:solidFill>
                  <a:srgbClr val="FFFFFF"/>
                </a:solidFill>
                <a:latin typeface="Urbanist Medium"/>
              </a:rPr>
              <a:t>posts Stock Token pool volume</a:t>
            </a:r>
          </a:p>
          <a:p>
            <a:pPr algn="l">
              <a:spcBef>
                <a:spcPts val="0"/>
              </a:spcBef>
              <a:spcAft>
                <a:spcPts val="0"/>
              </a:spcAft>
            </a:pPr>
            <a:r>
              <a:rPr sz="1400" b="0">
                <a:solidFill>
                  <a:srgbClr val="D4FF00"/>
                </a:solidFill>
                <a:latin typeface="Urbanist SemiBold"/>
              </a:rPr>
              <a:t>@senpi_ai</a:t>
            </a:r>
            <a:r>
              <a:rPr sz="1200" b="0">
                <a:solidFill>
                  <a:srgbClr val="FFFFFF"/>
                </a:solidFill>
                <a:latin typeface="Urbanist SemiBold"/>
              </a:rPr>
              <a:t>  14,741</a:t>
            </a:r>
          </a:p>
          <a:p>
            <a:pPr algn="l">
              <a:spcBef>
                <a:spcPts val="0"/>
              </a:spcBef>
              <a:spcAft>
                <a:spcPts val="500"/>
              </a:spcAft>
            </a:pPr>
            <a:r>
              <a:rPr sz="1300" b="0">
                <a:solidFill>
                  <a:srgbClr val="FFFFFF"/>
                </a:solidFill>
                <a:latin typeface="Urbanist Medium"/>
              </a:rPr>
              <a:t>114 strategy templates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gtm/USERS.md rows 1, 2, 3, 8, 10 (followers per fxtwitter 2026-10-24; arcana-arena.com block 95,182,673; Hyperliquid vaultDetails 2026-10-24); quotes gtm/signals.md rows 2 and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Creators earn on new profit. Followers pay for the code they approved.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CREATOR PERFORMANCE FEE</a:t>
            </a:r>
          </a:p>
          <a:p>
            <a:pPr algn="l">
              <a:spcBef>
                <a:spcPts val="0"/>
              </a:spcBef>
              <a:spcAft>
                <a:spcPts val="0"/>
              </a:spcAft>
            </a:pPr>
            <a:r>
              <a:rPr sz="2000" b="0">
                <a:solidFill>
                  <a:srgbClr val="FFFFFF"/>
                </a:solidFill>
                <a:latin typeface="Urbanist SemiBold"/>
              </a:rPr>
              <a:t>A share of profit above the follower's high-water mark, so a creator is paid only for new profit.</a:t>
            </a:r>
          </a:p>
        </p:txBody>
      </p:sp>
      <p:sp>
        <p:nvSpPr>
          <p:cNvPr id="502" name="Rectangle 501"/>
          <p:cNvSpPr/>
          <p:nvPr/>
        </p:nvSpPr>
        <p:spPr>
          <a:xfrm>
            <a:off x="466344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FOLLOWER SUBSCRIPTION</a:t>
            </a:r>
          </a:p>
          <a:p>
            <a:pPr algn="l">
              <a:spcBef>
                <a:spcPts val="0"/>
              </a:spcBef>
              <a:spcAft>
                <a:spcPts val="0"/>
              </a:spcAft>
            </a:pPr>
            <a:r>
              <a:rPr sz="2000" b="0">
                <a:solidFill>
                  <a:srgbClr val="FFFFFF"/>
                </a:solidFill>
                <a:latin typeface="Urbanist SemiBold"/>
              </a:rPr>
              <a:t>A flat monthly fee for an agent whose measurement the follower admitted.</a:t>
            </a:r>
          </a:p>
        </p:txBody>
      </p:sp>
      <p:sp>
        <p:nvSpPr>
          <p:cNvPr id="503" name="Rectangle 502"/>
          <p:cNvSpPr/>
          <p:nvPr/>
        </p:nvSpPr>
        <p:spPr>
          <a:xfrm>
            <a:off x="274320" y="3108960"/>
            <a:ext cx="8595360" cy="11430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spcBef>
                <a:spcPts val="0"/>
              </a:spcBef>
              <a:spcAft>
                <a:spcPts val="0"/>
              </a:spcAft>
            </a:pPr>
            <a:r>
              <a:rPr sz="1800" b="0">
                <a:solidFill>
                  <a:srgbClr val="D4FF00"/>
                </a:solidFill>
                <a:latin typeface="Urbanist SemiBold"/>
              </a:rPr>
              <a:t>Signet takes a share of each fee. </a:t>
            </a:r>
            <a:r>
              <a:rPr sz="1700" b="0">
                <a:solidFill>
                  <a:srgbClr val="FFFFFF"/>
                </a:solidFill>
                <a:latin typeface="Urbanist Medium"/>
              </a:rPr>
              <a:t>The audience already sits in public-PnL venues: Hyperliquid lists 9,478 vaults and $405,600,393 of TVL, and none can say which code trades.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stats-data.hyperliquid.xyz/Mainnet/vaults, read 2026-10-24 (gtm/COMPETITORS.md section 2). Fee terms are the business model; the account enforces which code may trade.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Others prove the number or the platform. Signet proves the code.</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graphicFrame>
        <p:nvGraphicFramePr>
          <p:cNvPr id="501" name="Table 500"/>
          <p:cNvGraphicFramePr>
            <a:graphicFrameLocks noGrp="1"/>
          </p:cNvGraphicFramePr>
          <p:nvPr/>
        </p:nvGraphicFramePr>
        <p:xfrm>
          <a:off x="274320" y="1234440"/>
          <a:ext cx="8595360" cy="3017520"/>
        </p:xfrm>
        <a:graphic>
          <a:graphicData uri="http://schemas.openxmlformats.org/drawingml/2006/table">
            <a:tbl>
              <a:tblPr firstRow="0" bandRow="0"/>
              <a:tblGrid>
                <a:gridCol w="1737360"/>
                <a:gridCol w="3657600"/>
                <a:gridCol w="3200400"/>
              </a:tblGrid>
              <a:tr h="329184">
                <a:tc>
                  <a:txBody>
                    <a:bodyPr wrap="square"/>
                    <a:lstStyle/>
                    <a:p>
                      <a:r>
                        <a:rPr sz="1300" b="0">
                          <a:solidFill>
                            <a:srgbClr val="00125F"/>
                          </a:solidFill>
                          <a:latin typeface="Urbanist SemiBold"/>
                        </a:rPr>
                        <a:t>Product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proves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leaves open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r>
              <a:tr h="448056">
                <a:tc>
                  <a:txBody>
                    <a:bodyPr wrap="square"/>
                    <a:lstStyle/>
                    <a:p>
                      <a:r>
                        <a:rPr sz="1400" b="0">
                          <a:solidFill>
                            <a:srgbClr val="D4FF00"/>
                          </a:solidFill>
                          <a:latin typeface="Urbanist SemiBold"/>
                        </a:rPr>
                        <a:t>ARCANA</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Decisions were not edited after the fact (Merkle roots on chain)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ran. The platform holds keys and prompts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448056">
                <a:tc>
                  <a:txBody>
                    <a:bodyPr wrap="square"/>
                    <a:lstStyle/>
                    <a:p>
                      <a:r>
                        <a:rPr sz="1400" b="0">
                          <a:solidFill>
                            <a:srgbClr val="D4FF00"/>
                          </a:solidFill>
                          <a:latin typeface="Urbanist SemiBold"/>
                        </a:rPr>
                        <a:t>Hyperliquid vaults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PnL and TVL, on chain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or model trades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448056">
                <a:tc>
                  <a:txBody>
                    <a:bodyPr wrap="square"/>
                    <a:lstStyle/>
                    <a:p>
                      <a:r>
                        <a:rPr sz="1400" b="0">
                          <a:solidFill>
                            <a:srgbClr val="D4FF00"/>
                          </a:solidFill>
                          <a:latin typeface="Urbanist SemiBold"/>
                        </a:rPr>
                        <a:t>Robinhood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Limits and approvals on the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agent code is trading</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448056">
                <a:tc>
                  <a:txBody>
                    <a:bodyPr wrap="square"/>
                    <a:lstStyle/>
                    <a:p>
                      <a:r>
                        <a:rPr sz="1400" b="0">
                          <a:solidFill>
                            <a:srgbClr val="D4FF00"/>
                          </a:solidFill>
                          <a:latin typeface="Urbanist SemiBold"/>
                        </a:rPr>
                        <a:t>Knidos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ZK proof that trades fit approved exchanges and parameters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model decided. Testnet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448056">
                <a:tc>
                  <a:txBody>
                    <a:bodyPr wrap="square"/>
                    <a:lstStyle/>
                    <a:p>
                      <a:r>
                        <a:rPr sz="1400" b="0">
                          <a:solidFill>
                            <a:srgbClr val="D4FF00"/>
                          </a:solidFill>
                          <a:latin typeface="Urbanist SemiBold"/>
                        </a:rPr>
                        <a:t>Phala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A workload ran in a TDX VM with a measurement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That it trades, and any account that refuses other code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448056">
                <a:tc>
                  <a:txBody>
                    <a:bodyPr wrap="square"/>
                    <a:lstStyle/>
                    <a:p>
                      <a:r>
                        <a:rPr sz="1400" b="0">
                          <a:solidFill>
                            <a:srgbClr val="D4FF00"/>
                          </a:solidFill>
                          <a:latin typeface="Urbanist SemiBold"/>
                        </a:rPr>
                        <a:t>Signet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The code and model behind every trade, enforced by the follower's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Prompt and strategy stay in the enclave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r>
            </a:tbl>
          </a:graphicData>
        </a:graphic>
      </p:graphicFrame>
      <p:sp>
        <p:nvSpPr>
          <p:cNvPr id="502" name="TextBox 501"/>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gtm/COMPETITORS.md (arcana-arena.com docs read 2026-10-24; Hyperliquid stats API; Robinhood newsroom 2026-09-29; knidos.xyz; Phala 2025 report).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Five named creators, one receipt, one message</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ctr">
              <a:spcBef>
                <a:spcPts val="0"/>
              </a:spcBef>
              <a:spcAft>
                <a:spcPts val="0"/>
              </a:spcAft>
            </a:pPr>
            <a:r>
              <a:rPr sz="2200" b="0">
                <a:solidFill>
                  <a:srgbClr val="D4FF00"/>
                </a:solidFill>
                <a:latin typeface="Urbanist SemiBold"/>
              </a:rPr>
              <a:t>“Your next record can be a measurement, not a screenshot.”</a:t>
            </a:r>
          </a:p>
        </p:txBody>
      </p:sp>
      <p:sp>
        <p:nvSpPr>
          <p:cNvPr id="502" name="Rectangle 501"/>
          <p:cNvSpPr/>
          <p:nvPr/>
        </p:nvSpPr>
        <p:spPr>
          <a:xfrm>
            <a:off x="27432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FIRST AUDIENCE</a:t>
            </a:r>
          </a:p>
          <a:p>
            <a:pPr algn="l">
              <a:spcBef>
                <a:spcPts val="0"/>
              </a:spcBef>
              <a:spcAft>
                <a:spcPts val="0"/>
              </a:spcAft>
            </a:pPr>
            <a:r>
              <a:rPr sz="1400" b="0">
                <a:solidFill>
                  <a:srgbClr val="FFFFFF"/>
                </a:solidFill>
                <a:latin typeface="Urbanist Medium"/>
              </a:rPr>
              <a:t>40 creators and 51 agents on ARCANA's Season 2 US Equities board</a:t>
            </a:r>
          </a:p>
        </p:txBody>
      </p:sp>
      <p:sp>
        <p:nvSpPr>
          <p:cNvPr id="503" name="Rectangle 502"/>
          <p:cNvSpPr/>
          <p:nvPr/>
        </p:nvSpPr>
        <p:spPr>
          <a:xfrm>
            <a:off x="320040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THREE CHANNELS</a:t>
            </a:r>
          </a:p>
          <a:p>
            <a:pPr algn="l">
              <a:spcBef>
                <a:spcPts val="0"/>
              </a:spcBef>
              <a:spcAft>
                <a:spcPts val="0"/>
              </a:spcAft>
            </a:pPr>
            <a:r>
              <a:rPr sz="1200" b="0">
                <a:solidFill>
                  <a:srgbClr val="FFFFFF"/>
                </a:solidFill>
                <a:latin typeface="Urbanist Medium"/>
              </a:rPr>
              <a:t>Direct DMs with the TSLA receipt attached. Leaderboard hosts add a measurement column. Builder channels at Robinhood Chain, Arbitrum, Phala.</a:t>
            </a:r>
          </a:p>
        </p:txBody>
      </p:sp>
      <p:sp>
        <p:nvSpPr>
          <p:cNvPr id="504" name="Rectangle 503"/>
          <p:cNvSpPr/>
          <p:nvPr/>
        </p:nvSpPr>
        <p:spPr>
          <a:xfrm>
            <a:off x="612648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THE INTRO THAT HELPS</a:t>
            </a:r>
          </a:p>
          <a:p>
            <a:pPr algn="l">
              <a:spcBef>
                <a:spcPts val="0"/>
              </a:spcBef>
              <a:spcAft>
                <a:spcPts val="0"/>
              </a:spcAft>
            </a:pPr>
            <a:r>
              <a:rPr sz="1300" b="0">
                <a:solidFill>
                  <a:srgbClr val="FFFFFF"/>
                </a:solidFill>
                <a:latin typeface="Urbanist Medium"/>
              </a:rPr>
              <a:t>Gaetan Thabot, Robinhood Chain partnerships. Ben Greenberg, Arbitrum Foundation DevRel.</a:t>
            </a:r>
          </a:p>
        </p:txBody>
      </p:sp>
      <p:sp>
        <p:nvSpPr>
          <p:cNvPr id="505" name="Rectangle 504"/>
          <p:cNvSpPr/>
          <p:nvPr/>
        </p:nvSpPr>
        <p:spPr>
          <a:xfrm>
            <a:off x="274320" y="3611880"/>
            <a:ext cx="8595360" cy="640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0"/>
              </a:spcAft>
            </a:pPr>
            <a:r>
              <a:rPr sz="1400" b="0">
                <a:solidFill>
                  <a:srgbClr val="D4FF00"/>
                </a:solidFill>
                <a:latin typeface="Urbanist SemiBold"/>
              </a:rPr>
              <a:t>Proof first: </a:t>
            </a:r>
            <a:r>
              <a:rPr sz="1400" b="0">
                <a:solidFill>
                  <a:srgbClr val="FFFFFF"/>
                </a:solidFill>
                <a:latin typeface="Urbanist Medium"/>
              </a:rPr>
              <a:t>30 days of Stock Token trades from an outside creator, one measurement on every event.</a:t>
            </a:r>
          </a:p>
        </p:txBody>
      </p:sp>
      <p:sp>
        <p:nvSpPr>
          <p:cNvPr id="506" name="TextBox 505"/>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arcana-arena.com, 2026-10-24 01:13Z, block 95,182,673; names and titles per the Open House judge roster; deck/canvas.html GTM canvas.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The ask: introductions now, milestone funding to put five creators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365760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300"/>
              </a:spcAft>
            </a:pPr>
            <a:r>
              <a:rPr sz="1300" b="0">
                <a:solidFill>
                  <a:srgbClr val="D4FF00"/>
                </a:solidFill>
                <a:latin typeface="Urbanist SemiBold"/>
              </a:rPr>
              <a:t>THE ASK</a:t>
            </a:r>
          </a:p>
          <a:p>
            <a:pPr algn="l">
              <a:spcBef>
                <a:spcPts val="0"/>
              </a:spcBef>
              <a:spcAft>
                <a:spcPts val="500"/>
              </a:spcAft>
            </a:pPr>
            <a:r>
              <a:rPr sz="1600" b="0">
                <a:solidFill>
                  <a:srgbClr val="FFFFFF"/>
                </a:solidFill>
                <a:latin typeface="Urbanist SemiBold"/>
              </a:rPr>
              <a:t>One introduction to Robinhood Chain partnerships</a:t>
            </a:r>
          </a:p>
          <a:p>
            <a:pPr algn="l">
              <a:spcBef>
                <a:spcPts val="0"/>
              </a:spcBef>
              <a:spcAft>
                <a:spcPts val="500"/>
              </a:spcAft>
            </a:pPr>
            <a:r>
              <a:rPr sz="1600" b="0">
                <a:solidFill>
                  <a:srgbClr val="FFFFFF"/>
                </a:solidFill>
                <a:latin typeface="Urbanist SemiBold"/>
              </a:rPr>
              <a:t>Five creators running agents in a TEE</a:t>
            </a:r>
          </a:p>
          <a:p>
            <a:pPr algn="l">
              <a:spcBef>
                <a:spcPts val="0"/>
              </a:spcBef>
              <a:spcAft>
                <a:spcPts val="0"/>
              </a:spcAft>
            </a:pPr>
            <a:r>
              <a:rPr sz="1600" b="0">
                <a:solidFill>
                  <a:srgbClr val="FFFFFF"/>
                </a:solidFill>
                <a:latin typeface="Urbanist SemiBold"/>
              </a:rPr>
              <a:t>Funding released 50% upfront, 50% on the milestones</a:t>
            </a:r>
          </a:p>
        </p:txBody>
      </p:sp>
      <p:sp>
        <p:nvSpPr>
          <p:cNvPr id="502" name="Rectangle 501"/>
          <p:cNvSpPr/>
          <p:nvPr/>
        </p:nvSpPr>
        <p:spPr>
          <a:xfrm>
            <a:off x="4114800" y="1280160"/>
            <a:ext cx="475488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400"/>
              </a:spcAft>
            </a:pPr>
            <a:r>
              <a:rPr sz="1300" b="0">
                <a:solidFill>
                  <a:srgbClr val="D4FF00"/>
                </a:solidFill>
                <a:latin typeface="Urbanist SemiBold"/>
              </a:rPr>
              <a:t>30-DAY MILESTONES</a:t>
            </a:r>
          </a:p>
          <a:p>
            <a:pPr algn="l">
              <a:spcBef>
                <a:spcPts val="0"/>
              </a:spcBef>
              <a:spcAft>
                <a:spcPts val="400"/>
              </a:spcAft>
            </a:pPr>
            <a:r>
              <a:rPr sz="1400" b="0">
                <a:solidFill>
                  <a:srgbClr val="D4FF00"/>
                </a:solidFill>
                <a:latin typeface="Urbanist SemiBold"/>
              </a:rPr>
              <a:t>Week 1  </a:t>
            </a:r>
            <a:r>
              <a:rPr sz="1400" b="0">
                <a:solidFill>
                  <a:srgbClr val="FFFFFF"/>
                </a:solidFill>
                <a:latin typeface="Urbanist Medium"/>
              </a:rPr>
              <a:t>First attested trades from the CVM whose compose pins the strategy hash</a:t>
            </a:r>
          </a:p>
          <a:p>
            <a:pPr algn="l">
              <a:spcBef>
                <a:spcPts val="0"/>
              </a:spcBef>
              <a:spcAft>
                <a:spcPts val="400"/>
              </a:spcAft>
            </a:pPr>
            <a:r>
              <a:rPr sz="1400" b="0">
                <a:solidFill>
                  <a:srgbClr val="D4FF00"/>
                </a:solidFill>
                <a:latin typeface="Urbanist SemiBold"/>
              </a:rPr>
              <a:t>Week 2  </a:t>
            </a:r>
            <a:r>
              <a:rPr sz="1400" b="0">
                <a:solidFill>
                  <a:srgbClr val="FFFFFF"/>
                </a:solidFill>
                <a:latin typeface="Urbanist Medium"/>
              </a:rPr>
              <a:t>TCB and QE identity checks on the verifier deployed to 46630</a:t>
            </a:r>
          </a:p>
          <a:p>
            <a:pPr algn="l">
              <a:spcBef>
                <a:spcPts val="0"/>
              </a:spcBef>
              <a:spcAft>
                <a:spcPts val="400"/>
              </a:spcAft>
            </a:pPr>
            <a:r>
              <a:rPr sz="1400" b="0">
                <a:solidFill>
                  <a:srgbClr val="D4FF00"/>
                </a:solidFill>
                <a:latin typeface="Urbanist SemiBold"/>
              </a:rPr>
              <a:t>Week 3  </a:t>
            </a:r>
            <a:r>
              <a:rPr sz="1400" b="0">
                <a:solidFill>
                  <a:srgbClr val="FFFFFF"/>
                </a:solidFill>
                <a:latin typeface="Urbanist Medium"/>
              </a:rPr>
              <a:t>Mainnet 4663 deployment from the runbook</a:t>
            </a:r>
          </a:p>
          <a:p>
            <a:pPr algn="l">
              <a:spcBef>
                <a:spcPts val="0"/>
              </a:spcBef>
              <a:spcAft>
                <a:spcPts val="400"/>
              </a:spcAft>
            </a:pPr>
            <a:r>
              <a:rPr sz="1400" b="0">
                <a:solidFill>
                  <a:srgbClr val="D4FF00"/>
                </a:solidFill>
                <a:latin typeface="Urbanist SemiBold"/>
              </a:rPr>
              <a:t>Week 4  </a:t>
            </a:r>
            <a:r>
              <a:rPr sz="1400" b="0">
                <a:solidFill>
                  <a:srgbClr val="FFFFFF"/>
                </a:solidFill>
                <a:latin typeface="Urbanist Medium"/>
              </a:rPr>
              <a:t>Five creators admitted, first trades naming one measurement each</a:t>
            </a:r>
          </a:p>
        </p:txBody>
      </p:sp>
      <p:sp>
        <p:nvSpPr>
          <p:cNvPr id="503" name="Rectangle 502"/>
          <p:cNvSpPr/>
          <p:nvPr/>
        </p:nvSpPr>
        <p:spPr>
          <a:xfrm>
            <a:off x="274320" y="352044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2412" bIns="102412"/>
          <a:lstStyle/>
          <a:p>
            <a:pPr algn="l">
              <a:spcBef>
                <a:spcPts val="0"/>
              </a:spcBef>
              <a:spcAft>
                <a:spcPts val="300"/>
              </a:spcAft>
            </a:pPr>
            <a:r>
              <a:rPr sz="1500" b="0">
                <a:solidFill>
                  <a:srgbClr val="D4FF00"/>
                </a:solidFill>
                <a:latin typeface="Urbanist SemiBold"/>
              </a:rPr>
              <a:t>Team: </a:t>
            </a:r>
            <a:r>
              <a:rPr sz="1500" b="0">
                <a:solidFill>
                  <a:srgbClr val="FFFFFF"/>
                </a:solidFill>
                <a:latin typeface="Urbanist Medium"/>
              </a:rPr>
              <a:t>aarav1656 and pranjalcodesinw3, builders of every layer from the Stylus verifiers to the app.</a:t>
            </a:r>
          </a:p>
          <a:p>
            <a:pPr algn="l">
              <a:spcBef>
                <a:spcPts val="0"/>
              </a:spcBef>
              <a:spcAft>
                <a:spcPts val="0"/>
              </a:spcAft>
            </a:pPr>
            <a:r>
              <a:rPr sz="1500" b="0">
                <a:solidFill>
                  <a:srgbClr val="FFFFFF"/>
                </a:solidFill>
                <a:latin typeface="Urbanist SemiBold"/>
              </a:rPr>
              <a:t>Check the TSLA trade yourself: </a:t>
            </a:r>
            <a:r>
              <a:rPr sz="1500" b="0">
                <a:solidFill>
                  <a:srgbClr val="D4FF00"/>
                </a:solidFill>
                <a:latin typeface="Urbanist SemiBold"/>
                <a:hlinkClick r:id="rId2"/>
              </a:rPr>
              <a:t>tx 0x0023f359…3b03 on the explorer</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github.com/pranjalcodesinw3/chiron commit history; docs/mainnet-runbook.md; milestones follow the Proof You Need First box of the GTM canvas.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Buys, Who Uses</a:t>
            </a:r>
            <a:endParaRPr b="1" sz="1316">
              <a:solidFill>
                <a:schemeClr val="lt1"/>
              </a:solidFill>
            </a:endParaRPr>
          </a:p>
          <a:p>
            <a:r>
              <a:rPr sz="900" b="0">
                <a:solidFill>
                  <a:srgbClr val="FFFFFF"/>
                </a:solidFill>
                <a:latin typeface="Urbanist Medium"/>
              </a:rPr>
              <a:t>creators use it: they supply an agent and earn a performance fee on new profit, the business model. followers buy it: they subscribe, fund their own account and approve one measurement</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First Reachable Audience</a:t>
            </a:r>
            <a:endParaRPr b="1" sz="1316">
              <a:solidFill>
                <a:schemeClr val="lt1"/>
              </a:solidFill>
            </a:endParaRPr>
          </a:p>
          <a:p>
            <a:r>
              <a:rPr sz="900" b="0">
                <a:solidFill>
                  <a:srgbClr val="FFFFFF"/>
                </a:solidFill>
                <a:latin typeface="Urbanist Medium"/>
              </a:rPr>
              <a:t>40 creators and 51 agents on ARCANA's Season 2 US Equities board (block 95,182,673), plus operators who post Stock Token volume in public: @HarmonicAgents (2,502), @OxSimpleFarmer (28,443)</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3 Distribution Channels</a:t>
            </a:r>
            <a:endParaRPr b="1" sz="1316">
              <a:solidFill>
                <a:schemeClr val="lt1"/>
              </a:solidFill>
            </a:endParaRPr>
          </a:p>
          <a:p>
            <a:r>
              <a:rPr sz="900" b="0">
                <a:solidFill>
                  <a:srgbClr val="FFFFFF"/>
                </a:solidFill>
                <a:latin typeface="Urbanist Medium"/>
              </a:rPr>
              <a:t>direct dms to stock token operators with the TSLA receipt attached; leaderboard hosts like ARCANA and Senpi adding a measurement column; builder channels at Robinhood Chain, Arbitrum and Phala</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Core Message, One Sentence</a:t>
            </a:r>
            <a:endParaRPr b="1" sz="1316">
              <a:solidFill>
                <a:schemeClr val="lt1"/>
              </a:solidFill>
            </a:endParaRPr>
          </a:p>
          <a:p>
            <a:r>
              <a:rPr sz="900" b="0">
                <a:solidFill>
                  <a:srgbClr val="FFFFFF"/>
                </a:solidFill>
                <a:latin typeface="Urbanist Medium"/>
              </a:rPr>
              <a:t>your next track record can be a measurement, not a screenshot: every trade names the code that made it, and the strategy text stays sealed behind a hash the measurement pins</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Proof You Need First</a:t>
            </a:r>
            <a:endParaRPr b="1" sz="1316">
              <a:solidFill>
                <a:schemeClr val="lt1"/>
              </a:solidFill>
            </a:endParaRPr>
          </a:p>
          <a:p>
            <a:r>
              <a:rPr sz="900" b="0">
                <a:solidFill>
                  <a:srgbClr val="FFFFFF"/>
                </a:solidFill>
                <a:latin typeface="Urbanist Medium"/>
              </a:rPr>
              <a:t>30 days of Stock Token trades from an outside creator, one measurement on every receipt. today on chain: one attested TSLA trade (block 127,188,951) and one refused workload (block 127,632,496)</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Intro That Helps</a:t>
            </a:r>
            <a:endParaRPr b="1" sz="1316">
              <a:solidFill>
                <a:schemeClr val="lt1"/>
              </a:solidFill>
            </a:endParaRPr>
          </a:p>
          <a:p>
            <a:r>
              <a:rPr sz="900" b="0">
                <a:solidFill>
                  <a:srgbClr val="FFFFFF"/>
                </a:solidFill>
                <a:latin typeface="Urbanist Medium"/>
              </a:rPr>
              <a:t>Gaetan Thabot (@GThabot), Robinhood Chain partnerships, for stock token creators. Ben Greenberg (@hummusonrails), Arbitrum DevRel, for the Stylus verifier. Phala as the TEE partner for creator CVMs</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5 Named Targets</a:t>
            </a:r>
            <a:endParaRPr b="1" sz="1383">
              <a:solidFill>
                <a:schemeClr val="lt1"/>
              </a:solidFill>
            </a:endParaRPr>
          </a:p>
          <a:p>
            <a:r>
              <a:rPr sz="1050" b="0">
                <a:solidFill>
                  <a:srgbClr val="FFFFFF"/>
                </a:solidFill>
                <a:latin typeface="Urbanist Medium"/>
              </a:rPr>
              <a:t>@Arcana_Arena (40 creators, 51 agents); @HarmonicAgents (2,502, trades Stock Tokens); Meridian402 (stock token market maker); @DeployFinance (7,295, $100,000 agent for 70 days); @GrowiHF (1,592, $2.94M all-time vault PnL)</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The Ask This Weekend</a:t>
            </a:r>
            <a:endParaRPr b="1" sz="1383">
              <a:solidFill>
                <a:schemeClr val="lt1"/>
              </a:solidFill>
            </a:endParaRPr>
          </a:p>
          <a:p>
            <a:r>
              <a:rPr sz="1050" b="0">
                <a:solidFill>
                  <a:srgbClr val="FFFFFF"/>
                </a:solidFill>
                <a:latin typeface="Urbanist Medium"/>
              </a:rPr>
              <a:t>one intro to Robinhood Chain partnerships and one to Arbitrum DevRel, plus five creators willing to run an agent in a TEE. CTA: open tx 0x0023f359...3b03 on the Robinhood Chain explorer and read the measurement and model hash</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arcana-arena.com 2026-10-24 01:13Z, block 95,182,673; @HarmonicAgents post 2026-10-23, followers per fxtwitter 2026-10-24; tx 0x0023f359...3b03 and 0xf98156ad...fcc8, chain 46630; names and titles per the Open House judge roster; @DeployFinance post 2026-10-23; @GrowiHF Hyperliquid vaultDetails 2026-10-24.</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D4FF00"/>
      </a:lt1>
      <a:dk2>
        <a:srgbClr val="D4FF00"/>
      </a:dk2>
      <a:lt2>
        <a:srgbClr val="434343"/>
      </a:lt2>
      <a:accent1>
        <a:srgbClr val="434343"/>
      </a:accent1>
      <a:accent2>
        <a:srgbClr val="252525"/>
      </a:accent2>
      <a:accent3>
        <a:srgbClr val="D4FF00"/>
      </a:accent3>
      <a:accent4>
        <a:srgbClr val="D4FF00"/>
      </a:accent4>
      <a:accent5>
        <a:srgbClr val="D4FF00"/>
      </a:accent5>
      <a:accent6>
        <a:srgbClr val="13AAFF"/>
      </a:accent6>
      <a:hlink>
        <a:srgbClr val="13A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